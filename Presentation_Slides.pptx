
<file path=[Content_Types].xml><?xml version="1.0" encoding="utf-8"?>
<Types xmlns="http://schemas.openxmlformats.org/package/2006/content-types">
  <Default ContentType="application/x-fontdata" Extension="fntdata"/>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6.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8.xml"/>
  <Override ContentType="application/vnd.openxmlformats-officedocument.presentationml.notesSlide+xml" PartName="/ppt/notesSlides/notesSlide7.xml"/>
  <Override ContentType="application/vnd.openxmlformats-officedocument.presentationml.notesSlide+xml" PartName="/ppt/notesSlides/notesSlide2.xml"/>
  <Override ContentType="application/vnd.openxmlformats-officedocument.presentationml.notesSlide+xml" PartName="/ppt/notesSlides/notesSlide5.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3.xml"/>
  <Override ContentType="application/vnd.openxmlformats-officedocument.presentationml.slide+xml" PartName="/ppt/slides/slide6.xml"/>
  <Override ContentType="application/vnd.openxmlformats-officedocument.presentationml.slide+xml" PartName="/ppt/slides/slide9.xml"/>
  <Override ContentType="application/vnd.openxmlformats-officedocument.presentationml.slide+xml" PartName="/ppt/slides/slide5.xml"/>
  <Override ContentType="application/vnd.openxmlformats-officedocument.presentationml.slide+xml" PartName="/ppt/slides/slide8.xml"/>
  <Override ContentType="application/vnd.openxmlformats-officedocument.presentationml.slide+xml" PartName="/ppt/slides/slide7.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59" r:id="rId4"/>
  </p:sldMasterIdLst>
  <p:notesMasterIdLst>
    <p:notesMasterId r:id="rId5"/>
  </p:notesMasterIdLst>
  <p:sldIdLst>
    <p:sldId id="256" r:id="rId6"/>
    <p:sldId id="257" r:id="rId7"/>
    <p:sldId id="258" r:id="rId8"/>
    <p:sldId id="259" r:id="rId9"/>
    <p:sldId id="260" r:id="rId10"/>
    <p:sldId id="261" r:id="rId11"/>
    <p:sldId id="262" r:id="rId12"/>
    <p:sldId id="263" r:id="rId13"/>
    <p:sldId id="264" r:id="rId14"/>
    <p:sldId id="265" r:id="rId15"/>
  </p:sldIdLst>
  <p:sldSz cy="5143500" cx="9144000"/>
  <p:notesSz cx="6858000" cy="9144000"/>
  <p:embeddedFontLst>
    <p:embeddedFont>
      <p:font typeface="Old Standard TT"/>
      <p:regular r:id="rId16"/>
      <p:bold r:id="rId17"/>
      <p:italic r:id="rId18"/>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11" Type="http://schemas.openxmlformats.org/officeDocument/2006/relationships/slide" Target="slides/slide6.xml"/><Relationship Id="rId10" Type="http://schemas.openxmlformats.org/officeDocument/2006/relationships/slide" Target="slides/slide5.xml"/><Relationship Id="rId13" Type="http://schemas.openxmlformats.org/officeDocument/2006/relationships/slide" Target="slides/slide8.xml"/><Relationship Id="rId12" Type="http://schemas.openxmlformats.org/officeDocument/2006/relationships/slide" Target="slides/slide7.xml"/><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4.xml"/><Relationship Id="rId15" Type="http://schemas.openxmlformats.org/officeDocument/2006/relationships/slide" Target="slides/slide10.xml"/><Relationship Id="rId14" Type="http://schemas.openxmlformats.org/officeDocument/2006/relationships/slide" Target="slides/slide9.xml"/><Relationship Id="rId17" Type="http://schemas.openxmlformats.org/officeDocument/2006/relationships/font" Target="fonts/OldStandardTT-bold.fntdata"/><Relationship Id="rId16" Type="http://schemas.openxmlformats.org/officeDocument/2006/relationships/font" Target="fonts/OldStandardTT-regular.fntdata"/><Relationship Id="rId5" Type="http://schemas.openxmlformats.org/officeDocument/2006/relationships/notesMaster" Target="notesMasters/notesMaster1.xml"/><Relationship Id="rId6" Type="http://schemas.openxmlformats.org/officeDocument/2006/relationships/slide" Target="slides/slide1.xml"/><Relationship Id="rId18" Type="http://schemas.openxmlformats.org/officeDocument/2006/relationships/font" Target="fonts/OldStandardTT-italic.fntdata"/><Relationship Id="rId7" Type="http://schemas.openxmlformats.org/officeDocument/2006/relationships/slide" Target="slides/slide2.xml"/><Relationship Id="rId8" Type="http://schemas.openxmlformats.org/officeDocument/2006/relationships/slide" Target="slides/slide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317500" lvl="0" marL="457200">
              <a:spcBef>
                <a:spcPts val="0"/>
              </a:spcBef>
              <a:spcAft>
                <a:spcPts val="0"/>
              </a:spcAft>
              <a:buSzPts val="1400"/>
              <a:buChar char="●"/>
              <a:defRPr sz="1100"/>
            </a:lvl1pPr>
            <a:lvl2pPr indent="-317500" lvl="1" marL="914400">
              <a:spcBef>
                <a:spcPts val="0"/>
              </a:spcBef>
              <a:spcAft>
                <a:spcPts val="0"/>
              </a:spcAft>
              <a:buSzPts val="1400"/>
              <a:buChar char="○"/>
              <a:defRPr sz="1100"/>
            </a:lvl2pPr>
            <a:lvl3pPr indent="-317500" lvl="2" marL="1371600">
              <a:spcBef>
                <a:spcPts val="0"/>
              </a:spcBef>
              <a:spcAft>
                <a:spcPts val="0"/>
              </a:spcAft>
              <a:buSzPts val="1400"/>
              <a:buChar char="■"/>
              <a:defRPr sz="1100"/>
            </a:lvl3pPr>
            <a:lvl4pPr indent="-317500" lvl="3" marL="1828800">
              <a:spcBef>
                <a:spcPts val="0"/>
              </a:spcBef>
              <a:spcAft>
                <a:spcPts val="0"/>
              </a:spcAft>
              <a:buSzPts val="1400"/>
              <a:buChar char="●"/>
              <a:defRPr sz="1100"/>
            </a:lvl4pPr>
            <a:lvl5pPr indent="-317500" lvl="4" marL="2286000">
              <a:spcBef>
                <a:spcPts val="0"/>
              </a:spcBef>
              <a:spcAft>
                <a:spcPts val="0"/>
              </a:spcAft>
              <a:buSzPts val="1400"/>
              <a:buChar char="○"/>
              <a:defRPr sz="1100"/>
            </a:lvl5pPr>
            <a:lvl6pPr indent="-317500" lvl="5" marL="2743200">
              <a:spcBef>
                <a:spcPts val="0"/>
              </a:spcBef>
              <a:spcAft>
                <a:spcPts val="0"/>
              </a:spcAft>
              <a:buSzPts val="1400"/>
              <a:buChar char="■"/>
              <a:defRPr sz="1100"/>
            </a:lvl6pPr>
            <a:lvl7pPr indent="-317500" lvl="6" marL="3200400">
              <a:spcBef>
                <a:spcPts val="0"/>
              </a:spcBef>
              <a:spcAft>
                <a:spcPts val="0"/>
              </a:spcAft>
              <a:buSzPts val="1400"/>
              <a:buChar char="●"/>
              <a:defRPr sz="1100"/>
            </a:lvl7pPr>
            <a:lvl8pPr indent="-317500" lvl="7" marL="3657600">
              <a:spcBef>
                <a:spcPts val="0"/>
              </a:spcBef>
              <a:spcAft>
                <a:spcPts val="0"/>
              </a:spcAft>
              <a:buSzPts val="1400"/>
              <a:buChar char="○"/>
              <a:defRPr sz="1100"/>
            </a:lvl8pPr>
            <a:lvl9pPr indent="-317500" lvl="8" marL="4114800">
              <a:spcBef>
                <a:spcPts val="0"/>
              </a:spcBef>
              <a:spcAft>
                <a:spcPts val="0"/>
              </a:spcAft>
              <a:buSzPts val="14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 name="Shape 50"/>
        <p:cNvGrpSpPr/>
        <p:nvPr/>
      </p:nvGrpSpPr>
      <p:grpSpPr>
        <a:xfrm>
          <a:off x="0" y="0"/>
          <a:ext cx="0" cy="0"/>
          <a:chOff x="0" y="0"/>
          <a:chExt cx="0" cy="0"/>
        </a:xfrm>
      </p:grpSpPr>
      <p:sp>
        <p:nvSpPr>
          <p:cNvPr id="51" name="Google Shape;51;gc6f90357f_0_0:notes"/>
          <p:cNvSpPr/>
          <p:nvPr>
            <p:ph idx="2" type="sldImg"/>
          </p:nvPr>
        </p:nvSpPr>
        <p:spPr>
          <a:xfrm>
            <a:off x="381188" y="685800"/>
            <a:ext cx="6096300" cy="3429000"/>
          </a:xfrm>
          <a:custGeom>
            <a:rect b="b" l="l" r="r" t="t"/>
            <a:pathLst>
              <a:path extrusionOk="0" h="120000" w="120000">
                <a:moveTo>
                  <a:pt x="0" y="0"/>
                </a:moveTo>
                <a:lnTo>
                  <a:pt x="120000" y="0"/>
                </a:lnTo>
                <a:lnTo>
                  <a:pt x="120000" y="120000"/>
                </a:lnTo>
                <a:lnTo>
                  <a:pt x="0" y="120000"/>
                </a:lnTo>
                <a:close/>
              </a:path>
            </a:pathLst>
          </a:custGeom>
        </p:spPr>
      </p:sp>
      <p:sp>
        <p:nvSpPr>
          <p:cNvPr id="52" name="Google Shape;52;gc6f90357f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6" name="Shape 56"/>
        <p:cNvGrpSpPr/>
        <p:nvPr/>
      </p:nvGrpSpPr>
      <p:grpSpPr>
        <a:xfrm>
          <a:off x="0" y="0"/>
          <a:ext cx="0" cy="0"/>
          <a:chOff x="0" y="0"/>
          <a:chExt cx="0" cy="0"/>
        </a:xfrm>
      </p:grpSpPr>
      <p:sp>
        <p:nvSpPr>
          <p:cNvPr id="57" name="Google Shape;57;gc6f90357f_0_5:notes"/>
          <p:cNvSpPr/>
          <p:nvPr>
            <p:ph idx="2" type="sldImg"/>
          </p:nvPr>
        </p:nvSpPr>
        <p:spPr>
          <a:xfrm>
            <a:off x="381188" y="685800"/>
            <a:ext cx="6096300" cy="3429000"/>
          </a:xfrm>
          <a:custGeom>
            <a:rect b="b" l="l" r="r" t="t"/>
            <a:pathLst>
              <a:path extrusionOk="0" h="120000" w="120000">
                <a:moveTo>
                  <a:pt x="0" y="0"/>
                </a:moveTo>
                <a:lnTo>
                  <a:pt x="120000" y="0"/>
                </a:lnTo>
                <a:lnTo>
                  <a:pt x="120000" y="120000"/>
                </a:lnTo>
                <a:lnTo>
                  <a:pt x="0" y="120000"/>
                </a:lnTo>
                <a:close/>
              </a:path>
            </a:pathLst>
          </a:custGeom>
        </p:spPr>
      </p:sp>
      <p:sp>
        <p:nvSpPr>
          <p:cNvPr id="58" name="Google Shape;58;gc6f90357f_0_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2" name="Shape 62"/>
        <p:cNvGrpSpPr/>
        <p:nvPr/>
      </p:nvGrpSpPr>
      <p:grpSpPr>
        <a:xfrm>
          <a:off x="0" y="0"/>
          <a:ext cx="0" cy="0"/>
          <a:chOff x="0" y="0"/>
          <a:chExt cx="0" cy="0"/>
        </a:xfrm>
      </p:grpSpPr>
      <p:sp>
        <p:nvSpPr>
          <p:cNvPr id="63" name="Google Shape;63;g3acd8faca0c_0_98:notes"/>
          <p:cNvSpPr/>
          <p:nvPr>
            <p:ph idx="2" type="sldImg"/>
          </p:nvPr>
        </p:nvSpPr>
        <p:spPr>
          <a:xfrm>
            <a:off x="381188" y="685800"/>
            <a:ext cx="6096300" cy="3429000"/>
          </a:xfrm>
          <a:custGeom>
            <a:rect b="b" l="l" r="r" t="t"/>
            <a:pathLst>
              <a:path extrusionOk="0" h="120000" w="120000">
                <a:moveTo>
                  <a:pt x="0" y="0"/>
                </a:moveTo>
                <a:lnTo>
                  <a:pt x="120000" y="0"/>
                </a:lnTo>
                <a:lnTo>
                  <a:pt x="120000" y="120000"/>
                </a:lnTo>
                <a:lnTo>
                  <a:pt x="0" y="120000"/>
                </a:lnTo>
                <a:close/>
              </a:path>
            </a:pathLst>
          </a:custGeom>
        </p:spPr>
      </p:sp>
      <p:sp>
        <p:nvSpPr>
          <p:cNvPr id="64" name="Google Shape;64;g3acd8faca0c_0_9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9" name="Shape 69"/>
        <p:cNvGrpSpPr/>
        <p:nvPr/>
      </p:nvGrpSpPr>
      <p:grpSpPr>
        <a:xfrm>
          <a:off x="0" y="0"/>
          <a:ext cx="0" cy="0"/>
          <a:chOff x="0" y="0"/>
          <a:chExt cx="0" cy="0"/>
        </a:xfrm>
      </p:grpSpPr>
      <p:sp>
        <p:nvSpPr>
          <p:cNvPr id="70" name="Google Shape;70;gc6f90357f_0_13:notes"/>
          <p:cNvSpPr/>
          <p:nvPr>
            <p:ph idx="2" type="sldImg"/>
          </p:nvPr>
        </p:nvSpPr>
        <p:spPr>
          <a:xfrm>
            <a:off x="381188" y="685800"/>
            <a:ext cx="6096300" cy="3429000"/>
          </a:xfrm>
          <a:custGeom>
            <a:rect b="b" l="l" r="r" t="t"/>
            <a:pathLst>
              <a:path extrusionOk="0" h="120000" w="120000">
                <a:moveTo>
                  <a:pt x="0" y="0"/>
                </a:moveTo>
                <a:lnTo>
                  <a:pt x="120000" y="0"/>
                </a:lnTo>
                <a:lnTo>
                  <a:pt x="120000" y="120000"/>
                </a:lnTo>
                <a:lnTo>
                  <a:pt x="0" y="120000"/>
                </a:lnTo>
                <a:close/>
              </a:path>
            </a:pathLst>
          </a:custGeom>
        </p:spPr>
      </p:sp>
      <p:sp>
        <p:nvSpPr>
          <p:cNvPr id="71" name="Google Shape;71;gc6f90357f_0_1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8" name="Shape 78"/>
        <p:cNvGrpSpPr/>
        <p:nvPr/>
      </p:nvGrpSpPr>
      <p:grpSpPr>
        <a:xfrm>
          <a:off x="0" y="0"/>
          <a:ext cx="0" cy="0"/>
          <a:chOff x="0" y="0"/>
          <a:chExt cx="0" cy="0"/>
        </a:xfrm>
      </p:grpSpPr>
      <p:sp>
        <p:nvSpPr>
          <p:cNvPr id="79" name="Google Shape;79;gc6f90357f_0_19:notes"/>
          <p:cNvSpPr/>
          <p:nvPr>
            <p:ph idx="2" type="sldImg"/>
          </p:nvPr>
        </p:nvSpPr>
        <p:spPr>
          <a:xfrm>
            <a:off x="381188" y="685800"/>
            <a:ext cx="6096300" cy="3429000"/>
          </a:xfrm>
          <a:custGeom>
            <a:rect b="b" l="l" r="r" t="t"/>
            <a:pathLst>
              <a:path extrusionOk="0" h="120000" w="120000">
                <a:moveTo>
                  <a:pt x="0" y="0"/>
                </a:moveTo>
                <a:lnTo>
                  <a:pt x="120000" y="0"/>
                </a:lnTo>
                <a:lnTo>
                  <a:pt x="120000" y="120000"/>
                </a:lnTo>
                <a:lnTo>
                  <a:pt x="0" y="120000"/>
                </a:lnTo>
                <a:close/>
              </a:path>
            </a:pathLst>
          </a:custGeom>
        </p:spPr>
      </p:sp>
      <p:sp>
        <p:nvSpPr>
          <p:cNvPr id="80" name="Google Shape;80;gc6f90357f_0_1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0" name="Shape 90"/>
        <p:cNvGrpSpPr/>
        <p:nvPr/>
      </p:nvGrpSpPr>
      <p:grpSpPr>
        <a:xfrm>
          <a:off x="0" y="0"/>
          <a:ext cx="0" cy="0"/>
          <a:chOff x="0" y="0"/>
          <a:chExt cx="0" cy="0"/>
        </a:xfrm>
      </p:grpSpPr>
      <p:sp>
        <p:nvSpPr>
          <p:cNvPr id="91" name="Google Shape;91;gc6f90357f_0_35:notes"/>
          <p:cNvSpPr/>
          <p:nvPr>
            <p:ph idx="2" type="sldImg"/>
          </p:nvPr>
        </p:nvSpPr>
        <p:spPr>
          <a:xfrm>
            <a:off x="381188" y="685800"/>
            <a:ext cx="6096300" cy="3429000"/>
          </a:xfrm>
          <a:custGeom>
            <a:rect b="b" l="l" r="r" t="t"/>
            <a:pathLst>
              <a:path extrusionOk="0" h="120000" w="120000">
                <a:moveTo>
                  <a:pt x="0" y="0"/>
                </a:moveTo>
                <a:lnTo>
                  <a:pt x="120000" y="0"/>
                </a:lnTo>
                <a:lnTo>
                  <a:pt x="120000" y="120000"/>
                </a:lnTo>
                <a:lnTo>
                  <a:pt x="0" y="120000"/>
                </a:lnTo>
                <a:close/>
              </a:path>
            </a:pathLst>
          </a:custGeom>
        </p:spPr>
      </p:sp>
      <p:sp>
        <p:nvSpPr>
          <p:cNvPr id="92" name="Google Shape;92;gc6f90357f_0_3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8" name="Shape 98"/>
        <p:cNvGrpSpPr/>
        <p:nvPr/>
      </p:nvGrpSpPr>
      <p:grpSpPr>
        <a:xfrm>
          <a:off x="0" y="0"/>
          <a:ext cx="0" cy="0"/>
          <a:chOff x="0" y="0"/>
          <a:chExt cx="0" cy="0"/>
        </a:xfrm>
      </p:grpSpPr>
      <p:sp>
        <p:nvSpPr>
          <p:cNvPr id="99" name="Google Shape;99;g3acd8faca0c_0_13:notes"/>
          <p:cNvSpPr/>
          <p:nvPr>
            <p:ph idx="2" type="sldImg"/>
          </p:nvPr>
        </p:nvSpPr>
        <p:spPr>
          <a:xfrm>
            <a:off x="381188" y="685800"/>
            <a:ext cx="6096300" cy="3429000"/>
          </a:xfrm>
          <a:custGeom>
            <a:rect b="b" l="l" r="r" t="t"/>
            <a:pathLst>
              <a:path extrusionOk="0" h="120000" w="120000">
                <a:moveTo>
                  <a:pt x="0" y="0"/>
                </a:moveTo>
                <a:lnTo>
                  <a:pt x="120000" y="0"/>
                </a:lnTo>
                <a:lnTo>
                  <a:pt x="120000" y="120000"/>
                </a:lnTo>
                <a:lnTo>
                  <a:pt x="0" y="120000"/>
                </a:lnTo>
                <a:close/>
              </a:path>
            </a:pathLst>
          </a:custGeom>
        </p:spPr>
      </p:sp>
      <p:sp>
        <p:nvSpPr>
          <p:cNvPr id="100" name="Google Shape;100;g3acd8faca0c_0_1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5" name="Shape 105"/>
        <p:cNvGrpSpPr/>
        <p:nvPr/>
      </p:nvGrpSpPr>
      <p:grpSpPr>
        <a:xfrm>
          <a:off x="0" y="0"/>
          <a:ext cx="0" cy="0"/>
          <a:chOff x="0" y="0"/>
          <a:chExt cx="0" cy="0"/>
        </a:xfrm>
      </p:grpSpPr>
      <p:sp>
        <p:nvSpPr>
          <p:cNvPr id="106" name="Google Shape;106;g3acd8faca0c_0_21:notes"/>
          <p:cNvSpPr/>
          <p:nvPr>
            <p:ph idx="2" type="sldImg"/>
          </p:nvPr>
        </p:nvSpPr>
        <p:spPr>
          <a:xfrm>
            <a:off x="381188" y="685800"/>
            <a:ext cx="6096300" cy="3429000"/>
          </a:xfrm>
          <a:custGeom>
            <a:rect b="b" l="l" r="r" t="t"/>
            <a:pathLst>
              <a:path extrusionOk="0" h="120000" w="120000">
                <a:moveTo>
                  <a:pt x="0" y="0"/>
                </a:moveTo>
                <a:lnTo>
                  <a:pt x="120000" y="0"/>
                </a:lnTo>
                <a:lnTo>
                  <a:pt x="120000" y="120000"/>
                </a:lnTo>
                <a:lnTo>
                  <a:pt x="0" y="120000"/>
                </a:lnTo>
                <a:close/>
              </a:path>
            </a:pathLst>
          </a:custGeom>
        </p:spPr>
      </p:sp>
      <p:sp>
        <p:nvSpPr>
          <p:cNvPr id="107" name="Google Shape;107;g3acd8faca0c_0_2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3" name="Shape 113"/>
        <p:cNvGrpSpPr/>
        <p:nvPr/>
      </p:nvGrpSpPr>
      <p:grpSpPr>
        <a:xfrm>
          <a:off x="0" y="0"/>
          <a:ext cx="0" cy="0"/>
          <a:chOff x="0" y="0"/>
          <a:chExt cx="0" cy="0"/>
        </a:xfrm>
      </p:grpSpPr>
      <p:sp>
        <p:nvSpPr>
          <p:cNvPr id="114" name="Google Shape;114;g3acd8faca0c_0_74:notes"/>
          <p:cNvSpPr/>
          <p:nvPr>
            <p:ph idx="2" type="sldImg"/>
          </p:nvPr>
        </p:nvSpPr>
        <p:spPr>
          <a:xfrm>
            <a:off x="381188" y="685800"/>
            <a:ext cx="6096300" cy="3429000"/>
          </a:xfrm>
          <a:custGeom>
            <a:rect b="b" l="l" r="r" t="t"/>
            <a:pathLst>
              <a:path extrusionOk="0" h="120000" w="120000">
                <a:moveTo>
                  <a:pt x="0" y="0"/>
                </a:moveTo>
                <a:lnTo>
                  <a:pt x="120000" y="0"/>
                </a:lnTo>
                <a:lnTo>
                  <a:pt x="120000" y="120000"/>
                </a:lnTo>
                <a:lnTo>
                  <a:pt x="0" y="120000"/>
                </a:lnTo>
                <a:close/>
              </a:path>
            </a:pathLst>
          </a:custGeom>
        </p:spPr>
      </p:sp>
      <p:sp>
        <p:nvSpPr>
          <p:cNvPr id="115" name="Google Shape;115;g3acd8faca0c_0_7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1" name="Shape 121"/>
        <p:cNvGrpSpPr/>
        <p:nvPr/>
      </p:nvGrpSpPr>
      <p:grpSpPr>
        <a:xfrm>
          <a:off x="0" y="0"/>
          <a:ext cx="0" cy="0"/>
          <a:chOff x="0" y="0"/>
          <a:chExt cx="0" cy="0"/>
        </a:xfrm>
      </p:grpSpPr>
      <p:sp>
        <p:nvSpPr>
          <p:cNvPr id="122" name="Google Shape;122;gc6f90357f_0_47:notes"/>
          <p:cNvSpPr/>
          <p:nvPr>
            <p:ph idx="2" type="sldImg"/>
          </p:nvPr>
        </p:nvSpPr>
        <p:spPr>
          <a:xfrm>
            <a:off x="381188" y="685800"/>
            <a:ext cx="6096300" cy="3429000"/>
          </a:xfrm>
          <a:custGeom>
            <a:rect b="b" l="l" r="r" t="t"/>
            <a:pathLst>
              <a:path extrusionOk="0" h="120000" w="120000">
                <a:moveTo>
                  <a:pt x="0" y="0"/>
                </a:moveTo>
                <a:lnTo>
                  <a:pt x="120000" y="0"/>
                </a:lnTo>
                <a:lnTo>
                  <a:pt x="120000" y="120000"/>
                </a:lnTo>
                <a:lnTo>
                  <a:pt x="0" y="120000"/>
                </a:lnTo>
                <a:close/>
              </a:path>
            </a:pathLst>
          </a:custGeom>
        </p:spPr>
      </p:sp>
      <p:sp>
        <p:nvSpPr>
          <p:cNvPr id="123" name="Google Shape;123;gc6f90357f_0_4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19" name="Google Shape;19;p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 name="Shape 25"/>
        <p:cNvGrpSpPr/>
        <p:nvPr/>
      </p:nvGrpSpPr>
      <p:grpSpPr>
        <a:xfrm>
          <a:off x="0" y="0"/>
          <a:ext cx="0" cy="0"/>
          <a:chOff x="0" y="0"/>
          <a:chExt cx="0" cy="0"/>
        </a:xfrm>
      </p:grpSpPr>
      <p:sp>
        <p:nvSpPr>
          <p:cNvPr id="26" name="Google Shape;26;p6"/>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28" name="Shape 28"/>
        <p:cNvGrpSpPr/>
        <p:nvPr/>
      </p:nvGrpSpPr>
      <p:grpSpPr>
        <a:xfrm>
          <a:off x="0" y="0"/>
          <a:ext cx="0" cy="0"/>
          <a:chOff x="0" y="0"/>
          <a:chExt cx="0" cy="0"/>
        </a:xfrm>
      </p:grpSpPr>
      <p:sp>
        <p:nvSpPr>
          <p:cNvPr id="29" name="Google Shape;29;p7"/>
          <p:cNvSpPr txBox="1"/>
          <p:nvPr>
            <p:ph type="title"/>
          </p:nvPr>
        </p:nvSpPr>
        <p:spPr>
          <a:xfrm>
            <a:off x="311700" y="555600"/>
            <a:ext cx="2808000" cy="755700"/>
          </a:xfrm>
          <a:prstGeom prst="rect">
            <a:avLst/>
          </a:prstGeom>
        </p:spPr>
        <p:txBody>
          <a:bodyPr anchorCtr="0" anchor="b"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30" name="Google Shape;30;p7"/>
          <p:cNvSpPr txBox="1"/>
          <p:nvPr>
            <p:ph idx="1" type="body"/>
          </p:nvPr>
        </p:nvSpPr>
        <p:spPr>
          <a:xfrm>
            <a:off x="311700" y="1389600"/>
            <a:ext cx="2808000" cy="3179400"/>
          </a:xfrm>
          <a:prstGeom prst="rect">
            <a:avLst/>
          </a:prstGeom>
        </p:spPr>
        <p:txBody>
          <a:bodyPr anchorCtr="0" anchor="t" bIns="91425" lIns="91425" spcFirstLastPara="1" rIns="91425" wrap="square" tIns="91425">
            <a:norm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31" name="Google Shape;31;p7"/>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2" name="Shape 32"/>
        <p:cNvGrpSpPr/>
        <p:nvPr/>
      </p:nvGrpSpPr>
      <p:grpSpPr>
        <a:xfrm>
          <a:off x="0" y="0"/>
          <a:ext cx="0" cy="0"/>
          <a:chOff x="0" y="0"/>
          <a:chExt cx="0" cy="0"/>
        </a:xfrm>
      </p:grpSpPr>
      <p:sp>
        <p:nvSpPr>
          <p:cNvPr id="33" name="Google Shape;33;p8"/>
          <p:cNvSpPr txBox="1"/>
          <p:nvPr>
            <p:ph type="title"/>
          </p:nvPr>
        </p:nvSpPr>
        <p:spPr>
          <a:xfrm>
            <a:off x="490250" y="450150"/>
            <a:ext cx="6367800" cy="4090800"/>
          </a:xfrm>
          <a:prstGeom prst="rect">
            <a:avLst/>
          </a:prstGeom>
        </p:spPr>
        <p:txBody>
          <a:bodyPr anchorCtr="0" anchor="ctr" bIns="91425" lIns="91425" spcFirstLastPara="1" rIns="91425" wrap="square" tIns="91425">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sp>
        <p:nvSpPr>
          <p:cNvPr id="34" name="Google Shape;34;p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 name="Google Shape;37;p9"/>
          <p:cNvSpPr txBox="1"/>
          <p:nvPr>
            <p:ph type="title"/>
          </p:nvPr>
        </p:nvSpPr>
        <p:spPr>
          <a:xfrm>
            <a:off x="265500" y="1233175"/>
            <a:ext cx="4045200" cy="1482300"/>
          </a:xfrm>
          <a:prstGeom prst="rect">
            <a:avLst/>
          </a:prstGeom>
        </p:spPr>
        <p:txBody>
          <a:bodyPr anchorCtr="0" anchor="b" bIns="91425" lIns="91425" spcFirstLastPara="1" rIns="91425" wrap="square" tIns="91425">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38" name="Google Shape;38;p9"/>
          <p:cNvSpPr txBox="1"/>
          <p:nvPr>
            <p:ph idx="1" type="subTitle"/>
          </p:nvPr>
        </p:nvSpPr>
        <p:spPr>
          <a:xfrm>
            <a:off x="265500" y="2803075"/>
            <a:ext cx="4045200" cy="12351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39" name="Google Shape;39;p9"/>
          <p:cNvSpPr txBox="1"/>
          <p:nvPr>
            <p:ph idx="2" type="body"/>
          </p:nvPr>
        </p:nvSpPr>
        <p:spPr>
          <a:xfrm>
            <a:off x="4939500" y="724075"/>
            <a:ext cx="3837000" cy="3695100"/>
          </a:xfrm>
          <a:prstGeom prst="rect">
            <a:avLst/>
          </a:prstGeom>
        </p:spPr>
        <p:txBody>
          <a:bodyPr anchorCtr="0" anchor="ctr"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40" name="Google Shape;40;p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1" name="Shape 41"/>
        <p:cNvGrpSpPr/>
        <p:nvPr/>
      </p:nvGrpSpPr>
      <p:grpSpPr>
        <a:xfrm>
          <a:off x="0" y="0"/>
          <a:ext cx="0" cy="0"/>
          <a:chOff x="0" y="0"/>
          <a:chExt cx="0" cy="0"/>
        </a:xfrm>
      </p:grpSpPr>
      <p:sp>
        <p:nvSpPr>
          <p:cNvPr id="42" name="Google Shape;42;p10"/>
          <p:cNvSpPr txBox="1"/>
          <p:nvPr>
            <p:ph idx="1" type="body"/>
          </p:nvPr>
        </p:nvSpPr>
        <p:spPr>
          <a:xfrm>
            <a:off x="311700" y="4230575"/>
            <a:ext cx="5998800" cy="6051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SzPts val="1800"/>
              <a:buNone/>
              <a:defRPr/>
            </a:lvl1pPr>
          </a:lstStyle>
          <a:p/>
        </p:txBody>
      </p:sp>
      <p:sp>
        <p:nvSpPr>
          <p:cNvPr id="43" name="Google Shape;43;p10"/>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4" name="Shape 44"/>
        <p:cNvGrpSpPr/>
        <p:nvPr/>
      </p:nvGrpSpPr>
      <p:grpSpPr>
        <a:xfrm>
          <a:off x="0" y="0"/>
          <a:ext cx="0" cy="0"/>
          <a:chOff x="0" y="0"/>
          <a:chExt cx="0" cy="0"/>
        </a:xfrm>
      </p:grpSpPr>
      <p:sp>
        <p:nvSpPr>
          <p:cNvPr id="45" name="Google Shape;45;p11"/>
          <p:cNvSpPr txBox="1"/>
          <p:nvPr>
            <p:ph hasCustomPrompt="1" type="title"/>
          </p:nvPr>
        </p:nvSpPr>
        <p:spPr>
          <a:xfrm>
            <a:off x="311700" y="1106125"/>
            <a:ext cx="8520600" cy="1963500"/>
          </a:xfrm>
          <a:prstGeom prst="rect">
            <a:avLst/>
          </a:prstGeom>
        </p:spPr>
        <p:txBody>
          <a:bodyPr anchorCtr="0" anchor="b" bIns="91425" lIns="91425" spcFirstLastPara="1" rIns="91425" wrap="square" tIns="91425">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p:nvPr>
            <p:ph idx="1" type="body"/>
          </p:nvPr>
        </p:nvSpPr>
        <p:spPr>
          <a:xfrm>
            <a:off x="311700" y="3152225"/>
            <a:ext cx="8520600" cy="1300800"/>
          </a:xfrm>
          <a:prstGeom prst="rect">
            <a:avLst/>
          </a:prstGeom>
        </p:spPr>
        <p:txBody>
          <a:bodyPr anchorCtr="0" anchor="t" bIns="91425" lIns="91425" spcFirstLastPara="1" rIns="91425" wrap="square" tIns="91425">
            <a:normAutofit/>
          </a:bodyPr>
          <a:lstStyle>
            <a:lvl1pPr indent="-342900" lvl="0" marL="457200" algn="ctr">
              <a:spcBef>
                <a:spcPts val="0"/>
              </a:spcBef>
              <a:spcAft>
                <a:spcPts val="0"/>
              </a:spcAft>
              <a:buSzPts val="1800"/>
              <a:buChar char="●"/>
              <a:defRPr/>
            </a:lvl1pPr>
            <a:lvl2pPr indent="-317500" lvl="1" marL="914400" algn="ctr">
              <a:spcBef>
                <a:spcPts val="0"/>
              </a:spcBef>
              <a:spcAft>
                <a:spcPts val="0"/>
              </a:spcAft>
              <a:buSzPts val="1400"/>
              <a:buChar char="○"/>
              <a:defRPr/>
            </a:lvl2pPr>
            <a:lvl3pPr indent="-317500" lvl="2" marL="1371600" algn="ctr">
              <a:spcBef>
                <a:spcPts val="0"/>
              </a:spcBef>
              <a:spcAft>
                <a:spcPts val="0"/>
              </a:spcAft>
              <a:buSzPts val="1400"/>
              <a:buChar char="■"/>
              <a:defRPr/>
            </a:lvl3pPr>
            <a:lvl4pPr indent="-317500" lvl="3" marL="1828800" algn="ctr">
              <a:spcBef>
                <a:spcPts val="0"/>
              </a:spcBef>
              <a:spcAft>
                <a:spcPts val="0"/>
              </a:spcAft>
              <a:buSzPts val="1400"/>
              <a:buChar char="●"/>
              <a:defRPr/>
            </a:lvl4pPr>
            <a:lvl5pPr indent="-317500" lvl="4" marL="2286000" algn="ctr">
              <a:spcBef>
                <a:spcPts val="0"/>
              </a:spcBef>
              <a:spcAft>
                <a:spcPts val="0"/>
              </a:spcAft>
              <a:buSzPts val="1400"/>
              <a:buChar char="○"/>
              <a:defRPr/>
            </a:lvl5pPr>
            <a:lvl6pPr indent="-317500" lvl="5" marL="2743200" algn="ctr">
              <a:spcBef>
                <a:spcPts val="0"/>
              </a:spcBef>
              <a:spcAft>
                <a:spcPts val="0"/>
              </a:spcAft>
              <a:buSzPts val="1400"/>
              <a:buChar char="■"/>
              <a:defRPr/>
            </a:lvl6pPr>
            <a:lvl7pPr indent="-317500" lvl="6" marL="3200400" algn="ctr">
              <a:spcBef>
                <a:spcPts val="0"/>
              </a:spcBef>
              <a:spcAft>
                <a:spcPts val="0"/>
              </a:spcAft>
              <a:buSzPts val="1400"/>
              <a:buChar char="●"/>
              <a:defRPr/>
            </a:lvl7pPr>
            <a:lvl8pPr indent="-317500" lvl="7" marL="3657600" algn="ctr">
              <a:spcBef>
                <a:spcPts val="0"/>
              </a:spcBef>
              <a:spcAft>
                <a:spcPts val="0"/>
              </a:spcAft>
              <a:buSzPts val="1400"/>
              <a:buChar char="○"/>
              <a:defRPr/>
            </a:lvl8pPr>
            <a:lvl9pPr indent="-317500" lvl="8" marL="4114800" algn="ctr">
              <a:spcBef>
                <a:spcPts val="0"/>
              </a:spcBef>
              <a:spcAft>
                <a:spcPts val="0"/>
              </a:spcAft>
              <a:buSzPts val="1400"/>
              <a:buChar char="■"/>
              <a:defRPr/>
            </a:lvl9pPr>
          </a:lstStyle>
          <a:p/>
        </p:txBody>
      </p:sp>
      <p:sp>
        <p:nvSpPr>
          <p:cNvPr id="47" name="Google Shape;47;p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8" name="Shape 48"/>
        <p:cNvGrpSpPr/>
        <p:nvPr/>
      </p:nvGrpSpPr>
      <p:grpSpPr>
        <a:xfrm>
          <a:off x="0" y="0"/>
          <a:ext cx="0" cy="0"/>
          <a:chOff x="0" y="0"/>
          <a:chExt cx="0" cy="0"/>
        </a:xfrm>
      </p:grpSpPr>
      <p:sp>
        <p:nvSpPr>
          <p:cNvPr id="49" name="Google Shape;49;p1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nSpc>
                <a:spcPct val="115000"/>
              </a:lnSpc>
              <a:spcBef>
                <a:spcPts val="0"/>
              </a:spcBef>
              <a:spcAft>
                <a:spcPts val="0"/>
              </a:spcAft>
              <a:buClr>
                <a:schemeClr val="dk2"/>
              </a:buClr>
              <a:buSzPts val="1800"/>
              <a:buChar char="●"/>
              <a:defRPr sz="1800">
                <a:solidFill>
                  <a:schemeClr val="dk2"/>
                </a:solidFill>
              </a:defRPr>
            </a:lvl1pPr>
            <a:lvl2pPr indent="-317500" lvl="1" marL="914400">
              <a:lnSpc>
                <a:spcPct val="115000"/>
              </a:lnSpc>
              <a:spcBef>
                <a:spcPts val="0"/>
              </a:spcBef>
              <a:spcAft>
                <a:spcPts val="0"/>
              </a:spcAft>
              <a:buClr>
                <a:schemeClr val="dk2"/>
              </a:buClr>
              <a:buSzPts val="1400"/>
              <a:buChar char="○"/>
              <a:defRPr>
                <a:solidFill>
                  <a:schemeClr val="dk2"/>
                </a:solidFill>
              </a:defRPr>
            </a:lvl2pPr>
            <a:lvl3pPr indent="-317500" lvl="2" marL="1371600">
              <a:lnSpc>
                <a:spcPct val="115000"/>
              </a:lnSpc>
              <a:spcBef>
                <a:spcPts val="0"/>
              </a:spcBef>
              <a:spcAft>
                <a:spcPts val="0"/>
              </a:spcAft>
              <a:buClr>
                <a:schemeClr val="dk2"/>
              </a:buClr>
              <a:buSzPts val="1400"/>
              <a:buChar char="■"/>
              <a:defRPr>
                <a:solidFill>
                  <a:schemeClr val="dk2"/>
                </a:solidFill>
              </a:defRPr>
            </a:lvl3pPr>
            <a:lvl4pPr indent="-317500" lvl="3" marL="1828800">
              <a:lnSpc>
                <a:spcPct val="115000"/>
              </a:lnSpc>
              <a:spcBef>
                <a:spcPts val="0"/>
              </a:spcBef>
              <a:spcAft>
                <a:spcPts val="0"/>
              </a:spcAft>
              <a:buClr>
                <a:schemeClr val="dk2"/>
              </a:buClr>
              <a:buSzPts val="1400"/>
              <a:buChar char="●"/>
              <a:defRPr>
                <a:solidFill>
                  <a:schemeClr val="dk2"/>
                </a:solidFill>
              </a:defRPr>
            </a:lvl4pPr>
            <a:lvl5pPr indent="-317500" lvl="4" marL="2286000">
              <a:lnSpc>
                <a:spcPct val="115000"/>
              </a:lnSpc>
              <a:spcBef>
                <a:spcPts val="0"/>
              </a:spcBef>
              <a:spcAft>
                <a:spcPts val="0"/>
              </a:spcAft>
              <a:buClr>
                <a:schemeClr val="dk2"/>
              </a:buClr>
              <a:buSzPts val="1400"/>
              <a:buChar char="○"/>
              <a:defRPr>
                <a:solidFill>
                  <a:schemeClr val="dk2"/>
                </a:solidFill>
              </a:defRPr>
            </a:lvl5pPr>
            <a:lvl6pPr indent="-317500" lvl="5" marL="2743200">
              <a:lnSpc>
                <a:spcPct val="115000"/>
              </a:lnSpc>
              <a:spcBef>
                <a:spcPts val="0"/>
              </a:spcBef>
              <a:spcAft>
                <a:spcPts val="0"/>
              </a:spcAft>
              <a:buClr>
                <a:schemeClr val="dk2"/>
              </a:buClr>
              <a:buSzPts val="1400"/>
              <a:buChar char="■"/>
              <a:defRPr>
                <a:solidFill>
                  <a:schemeClr val="dk2"/>
                </a:solidFill>
              </a:defRPr>
            </a:lvl6pPr>
            <a:lvl7pPr indent="-317500" lvl="6" marL="3200400">
              <a:lnSpc>
                <a:spcPct val="115000"/>
              </a:lnSpc>
              <a:spcBef>
                <a:spcPts val="0"/>
              </a:spcBef>
              <a:spcAft>
                <a:spcPts val="0"/>
              </a:spcAft>
              <a:buClr>
                <a:schemeClr val="dk2"/>
              </a:buClr>
              <a:buSzPts val="1400"/>
              <a:buChar char="●"/>
              <a:defRPr>
                <a:solidFill>
                  <a:schemeClr val="dk2"/>
                </a:solidFill>
              </a:defRPr>
            </a:lvl7pPr>
            <a:lvl8pPr indent="-317500" lvl="7" marL="3657600">
              <a:lnSpc>
                <a:spcPct val="115000"/>
              </a:lnSpc>
              <a:spcBef>
                <a:spcPts val="0"/>
              </a:spcBef>
              <a:spcAft>
                <a:spcPts val="0"/>
              </a:spcAft>
              <a:buClr>
                <a:schemeClr val="dk2"/>
              </a:buClr>
              <a:buSzPts val="1400"/>
              <a:buChar char="○"/>
              <a:defRPr>
                <a:solidFill>
                  <a:schemeClr val="dk2"/>
                </a:solidFill>
              </a:defRPr>
            </a:lvl8pPr>
            <a:lvl9pPr indent="-317500" lvl="8" marL="4114800">
              <a:lnSpc>
                <a:spcPct val="115000"/>
              </a:lnSpc>
              <a:spcBef>
                <a:spcPts val="0"/>
              </a:spcBef>
              <a:spcAft>
                <a:spcPts val="0"/>
              </a:spcAft>
              <a:buClr>
                <a:schemeClr val="dk2"/>
              </a:buClr>
              <a:buSzPts val="1400"/>
              <a:buChar char="■"/>
              <a:defRPr>
                <a:solidFill>
                  <a:schemeClr val="dk2"/>
                </a:solidFill>
              </a:defRPr>
            </a:lvl9pPr>
          </a:lstStyle>
          <a:p/>
        </p:txBody>
      </p:sp>
      <p:sp>
        <p:nvSpPr>
          <p:cNvPr id="8" name="Google Shape;8;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4.xml"/><Relationship Id="rId3" Type="http://schemas.openxmlformats.org/officeDocument/2006/relationships/image" Target="../media/image5.png"/><Relationship Id="rId4" Type="http://schemas.openxmlformats.org/officeDocument/2006/relationships/image" Target="../media/image11.png"/><Relationship Id="rId5" Type="http://schemas.openxmlformats.org/officeDocument/2006/relationships/image" Target="../media/image3.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xml"/><Relationship Id="rId3" Type="http://schemas.openxmlformats.org/officeDocument/2006/relationships/image" Target="../media/image14.png"/><Relationship Id="rId4" Type="http://schemas.openxmlformats.org/officeDocument/2006/relationships/image" Target="../media/image10.png"/><Relationship Id="rId5" Type="http://schemas.openxmlformats.org/officeDocument/2006/relationships/image" Target="../media/image4.png"/><Relationship Id="rId6" Type="http://schemas.openxmlformats.org/officeDocument/2006/relationships/image" Target="../media/image16.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xml"/><Relationship Id="rId3" Type="http://schemas.openxmlformats.org/officeDocument/2006/relationships/image" Target="../media/image18.png"/><Relationship Id="rId4" Type="http://schemas.openxmlformats.org/officeDocument/2006/relationships/image" Target="../media/image1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xml"/><Relationship Id="rId3" Type="http://schemas.openxmlformats.org/officeDocument/2006/relationships/image" Target="../media/image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xml"/><Relationship Id="rId3" Type="http://schemas.openxmlformats.org/officeDocument/2006/relationships/hyperlink" Target="https://github.com/nshin09/Expense-Tracker-Application.git" TargetMode="External"/><Relationship Id="rId4" Type="http://schemas.openxmlformats.org/officeDocument/2006/relationships/image" Target="../media/image15.png"/><Relationship Id="rId5" Type="http://schemas.openxmlformats.org/officeDocument/2006/relationships/image" Target="../media/image8.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xml"/><Relationship Id="rId3" Type="http://schemas.openxmlformats.org/officeDocument/2006/relationships/image" Target="../media/image7.png"/><Relationship Id="rId4" Type="http://schemas.openxmlformats.org/officeDocument/2006/relationships/image" Target="../media/image1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 Id="rId3" Type="http://schemas.openxmlformats.org/officeDocument/2006/relationships/image" Target="../media/image6.png"/><Relationship Id="rId4" Type="http://schemas.openxmlformats.org/officeDocument/2006/relationships/image" Target="../media/image9.png"/><Relationship Id="rId5" Type="http://schemas.openxmlformats.org/officeDocument/2006/relationships/image" Target="../media/image13.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accent1"/>
        </a:solidFill>
      </p:bgPr>
    </p:bg>
    <p:spTree>
      <p:nvGrpSpPr>
        <p:cNvPr id="53" name="Shape 53"/>
        <p:cNvGrpSpPr/>
        <p:nvPr/>
      </p:nvGrpSpPr>
      <p:grpSpPr>
        <a:xfrm>
          <a:off x="0" y="0"/>
          <a:ext cx="0" cy="0"/>
          <a:chOff x="0" y="0"/>
          <a:chExt cx="0" cy="0"/>
        </a:xfrm>
      </p:grpSpPr>
      <p:sp>
        <p:nvSpPr>
          <p:cNvPr id="54" name="Google Shape;54;p13"/>
          <p:cNvSpPr txBox="1"/>
          <p:nvPr>
            <p:ph type="ctrTitle"/>
          </p:nvPr>
        </p:nvSpPr>
        <p:spPr>
          <a:xfrm>
            <a:off x="0" y="744575"/>
            <a:ext cx="8964300" cy="2052600"/>
          </a:xfrm>
          <a:prstGeom prst="rect">
            <a:avLst/>
          </a:prstGeom>
        </p:spPr>
        <p:txBody>
          <a:bodyPr anchorCtr="0" anchor="b" bIns="91425" lIns="91425" spcFirstLastPara="1" rIns="91425" wrap="square" tIns="91425">
            <a:normAutofit/>
          </a:bodyPr>
          <a:lstStyle/>
          <a:p>
            <a:pPr indent="0" lvl="0" marL="0" rtl="0" algn="ctr">
              <a:spcBef>
                <a:spcPts val="0"/>
              </a:spcBef>
              <a:spcAft>
                <a:spcPts val="0"/>
              </a:spcAft>
              <a:buNone/>
            </a:pPr>
            <a:r>
              <a:rPr lang="en"/>
              <a:t>Expense Tracker Application</a:t>
            </a:r>
            <a:endParaRPr/>
          </a:p>
        </p:txBody>
      </p:sp>
      <p:sp>
        <p:nvSpPr>
          <p:cNvPr id="55" name="Google Shape;55;p13"/>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p>
            <a:pPr indent="0" lvl="0" marL="0" rtl="0" algn="ctr">
              <a:spcBef>
                <a:spcPts val="0"/>
              </a:spcBef>
              <a:spcAft>
                <a:spcPts val="0"/>
              </a:spcAft>
              <a:buNone/>
            </a:pPr>
            <a:r>
              <a:rPr lang="en">
                <a:solidFill>
                  <a:schemeClr val="dk1"/>
                </a:solidFill>
              </a:rPr>
              <a:t>By Nathan Shin</a:t>
            </a:r>
            <a:endParaRPr>
              <a:solidFill>
                <a:schemeClr val="dk1"/>
              </a:solidFill>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accent1"/>
        </a:solidFill>
      </p:bgPr>
    </p:bg>
    <p:spTree>
      <p:nvGrpSpPr>
        <p:cNvPr id="59" name="Shape 59"/>
        <p:cNvGrpSpPr/>
        <p:nvPr/>
      </p:nvGrpSpPr>
      <p:grpSpPr>
        <a:xfrm>
          <a:off x="0" y="0"/>
          <a:ext cx="0" cy="0"/>
          <a:chOff x="0" y="0"/>
          <a:chExt cx="0" cy="0"/>
        </a:xfrm>
      </p:grpSpPr>
      <p:sp>
        <p:nvSpPr>
          <p:cNvPr id="60" name="Google Shape;60;p14"/>
          <p:cNvSpPr txBox="1"/>
          <p:nvPr>
            <p:ph type="title"/>
          </p:nvPr>
        </p:nvSpPr>
        <p:spPr>
          <a:xfrm>
            <a:off x="46825" y="53375"/>
            <a:ext cx="6545100" cy="1668600"/>
          </a:xfrm>
          <a:prstGeom prst="rect">
            <a:avLst/>
          </a:prstGeom>
        </p:spPr>
        <p:txBody>
          <a:bodyPr anchorCtr="0" anchor="ctr" bIns="91425" lIns="91425" spcFirstLastPara="1" rIns="91425" wrap="square" tIns="91425">
            <a:normAutofit/>
          </a:bodyPr>
          <a:lstStyle/>
          <a:p>
            <a:pPr indent="0" lvl="0" marL="0" rtl="0" algn="l">
              <a:spcBef>
                <a:spcPts val="0"/>
              </a:spcBef>
              <a:spcAft>
                <a:spcPts val="0"/>
              </a:spcAft>
              <a:buNone/>
            </a:pPr>
            <a:r>
              <a:rPr lang="en" sz="3200"/>
              <a:t>Design Considerations &amp; Approach</a:t>
            </a:r>
            <a:endParaRPr sz="3200"/>
          </a:p>
        </p:txBody>
      </p:sp>
      <p:sp>
        <p:nvSpPr>
          <p:cNvPr id="61" name="Google Shape;61;p14"/>
          <p:cNvSpPr txBox="1"/>
          <p:nvPr/>
        </p:nvSpPr>
        <p:spPr>
          <a:xfrm>
            <a:off x="0" y="1234075"/>
            <a:ext cx="9015900" cy="3739500"/>
          </a:xfrm>
          <a:prstGeom prst="rect">
            <a:avLst/>
          </a:prstGeom>
          <a:noFill/>
          <a:ln>
            <a:noFill/>
          </a:ln>
        </p:spPr>
        <p:txBody>
          <a:bodyPr anchorCtr="0" anchor="t" bIns="91425" lIns="91425" spcFirstLastPara="1" rIns="91425" wrap="square" tIns="91425">
            <a:noAutofit/>
          </a:bodyPr>
          <a:lstStyle/>
          <a:p>
            <a:pPr indent="-342900" lvl="0" marL="457200" rtl="0" algn="l">
              <a:spcBef>
                <a:spcPts val="0"/>
              </a:spcBef>
              <a:spcAft>
                <a:spcPts val="0"/>
              </a:spcAft>
              <a:buClr>
                <a:schemeClr val="dk1"/>
              </a:buClr>
              <a:buSzPts val="1800"/>
              <a:buFont typeface="Old Standard TT"/>
              <a:buChar char="●"/>
            </a:pPr>
            <a:r>
              <a:rPr lang="en" sz="1800">
                <a:solidFill>
                  <a:schemeClr val="dk1"/>
                </a:solidFill>
                <a:latin typeface="Old Standard TT"/>
                <a:ea typeface="Old Standard TT"/>
                <a:cs typeface="Old Standard TT"/>
                <a:sym typeface="Old Standard TT"/>
              </a:rPr>
              <a:t>Tech Stack </a:t>
            </a:r>
            <a:endParaRPr sz="1800">
              <a:solidFill>
                <a:schemeClr val="dk1"/>
              </a:solidFill>
              <a:latin typeface="Old Standard TT"/>
              <a:ea typeface="Old Standard TT"/>
              <a:cs typeface="Old Standard TT"/>
              <a:sym typeface="Old Standard TT"/>
            </a:endParaRPr>
          </a:p>
          <a:p>
            <a:pPr indent="-342900" lvl="1" marL="914400" rtl="0" algn="l">
              <a:spcBef>
                <a:spcPts val="0"/>
              </a:spcBef>
              <a:spcAft>
                <a:spcPts val="0"/>
              </a:spcAft>
              <a:buClr>
                <a:schemeClr val="dk1"/>
              </a:buClr>
              <a:buSzPts val="1800"/>
              <a:buFont typeface="Old Standard TT"/>
              <a:buChar char="○"/>
            </a:pPr>
            <a:r>
              <a:rPr lang="en" sz="1800">
                <a:solidFill>
                  <a:schemeClr val="dk1"/>
                </a:solidFill>
                <a:latin typeface="Old Standard TT"/>
                <a:ea typeface="Old Standard TT"/>
                <a:cs typeface="Old Standard TT"/>
                <a:sym typeface="Old Standard TT"/>
              </a:rPr>
              <a:t>Backend, Frontend, and Database to deliver a lightweight web-app quickly. </a:t>
            </a:r>
            <a:endParaRPr sz="1800">
              <a:solidFill>
                <a:schemeClr val="dk1"/>
              </a:solidFill>
              <a:latin typeface="Old Standard TT"/>
              <a:ea typeface="Old Standard TT"/>
              <a:cs typeface="Old Standard TT"/>
              <a:sym typeface="Old Standard TT"/>
            </a:endParaRPr>
          </a:p>
          <a:p>
            <a:pPr indent="0" lvl="0" marL="0" rtl="0" algn="l">
              <a:spcBef>
                <a:spcPts val="0"/>
              </a:spcBef>
              <a:spcAft>
                <a:spcPts val="0"/>
              </a:spcAft>
              <a:buNone/>
            </a:pPr>
            <a:r>
              <a:t/>
            </a:r>
            <a:endParaRPr sz="1800">
              <a:solidFill>
                <a:schemeClr val="dk1"/>
              </a:solidFill>
              <a:latin typeface="Old Standard TT"/>
              <a:ea typeface="Old Standard TT"/>
              <a:cs typeface="Old Standard TT"/>
              <a:sym typeface="Old Standard TT"/>
            </a:endParaRPr>
          </a:p>
          <a:p>
            <a:pPr indent="-342900" lvl="0" marL="457200" rtl="0" algn="l">
              <a:spcBef>
                <a:spcPts val="0"/>
              </a:spcBef>
              <a:spcAft>
                <a:spcPts val="0"/>
              </a:spcAft>
              <a:buClr>
                <a:schemeClr val="dk1"/>
              </a:buClr>
              <a:buSzPts val="1800"/>
              <a:buFont typeface="Old Standard TT"/>
              <a:buChar char="●"/>
            </a:pPr>
            <a:r>
              <a:rPr lang="en" sz="1800">
                <a:solidFill>
                  <a:schemeClr val="dk1"/>
                </a:solidFill>
                <a:latin typeface="Old Standard TT"/>
                <a:ea typeface="Old Standard TT"/>
                <a:cs typeface="Old Standard TT"/>
                <a:sym typeface="Old Standard TT"/>
              </a:rPr>
              <a:t>Implementation of Functionality</a:t>
            </a:r>
            <a:endParaRPr sz="1800">
              <a:solidFill>
                <a:schemeClr val="dk1"/>
              </a:solidFill>
              <a:latin typeface="Old Standard TT"/>
              <a:ea typeface="Old Standard TT"/>
              <a:cs typeface="Old Standard TT"/>
              <a:sym typeface="Old Standard TT"/>
            </a:endParaRPr>
          </a:p>
          <a:p>
            <a:pPr indent="-342900" lvl="1" marL="914400" rtl="0" algn="l">
              <a:spcBef>
                <a:spcPts val="0"/>
              </a:spcBef>
              <a:spcAft>
                <a:spcPts val="0"/>
              </a:spcAft>
              <a:buClr>
                <a:schemeClr val="dk1"/>
              </a:buClr>
              <a:buSzPts val="1800"/>
              <a:buFont typeface="Old Standard TT"/>
              <a:buChar char="○"/>
            </a:pPr>
            <a:r>
              <a:rPr lang="en" sz="1800">
                <a:solidFill>
                  <a:schemeClr val="dk1"/>
                </a:solidFill>
                <a:latin typeface="Old Standard TT"/>
                <a:ea typeface="Old Standard TT"/>
                <a:cs typeface="Old Standard TT"/>
                <a:sym typeface="Old Standard TT"/>
              </a:rPr>
              <a:t>At a minimum, must provide required functionality</a:t>
            </a:r>
            <a:endParaRPr sz="1800">
              <a:solidFill>
                <a:schemeClr val="dk1"/>
              </a:solidFill>
              <a:latin typeface="Old Standard TT"/>
              <a:ea typeface="Old Standard TT"/>
              <a:cs typeface="Old Standard TT"/>
              <a:sym typeface="Old Standard TT"/>
            </a:endParaRPr>
          </a:p>
          <a:p>
            <a:pPr indent="-342900" lvl="2" marL="1371600" rtl="0" algn="l">
              <a:spcBef>
                <a:spcPts val="0"/>
              </a:spcBef>
              <a:spcAft>
                <a:spcPts val="0"/>
              </a:spcAft>
              <a:buClr>
                <a:schemeClr val="dk1"/>
              </a:buClr>
              <a:buSzPts val="1800"/>
              <a:buFont typeface="Old Standard TT"/>
              <a:buChar char="■"/>
            </a:pPr>
            <a:r>
              <a:rPr lang="en" sz="1800">
                <a:solidFill>
                  <a:schemeClr val="dk1"/>
                </a:solidFill>
                <a:latin typeface="Old Standard TT"/>
                <a:ea typeface="Old Standard TT"/>
                <a:cs typeface="Old Standard TT"/>
                <a:sym typeface="Old Standard TT"/>
              </a:rPr>
              <a:t>Total Expense</a:t>
            </a:r>
            <a:endParaRPr sz="1800">
              <a:solidFill>
                <a:schemeClr val="dk1"/>
              </a:solidFill>
              <a:latin typeface="Old Standard TT"/>
              <a:ea typeface="Old Standard TT"/>
              <a:cs typeface="Old Standard TT"/>
              <a:sym typeface="Old Standard TT"/>
            </a:endParaRPr>
          </a:p>
          <a:p>
            <a:pPr indent="-342900" lvl="2" marL="1371600" rtl="0" algn="l">
              <a:spcBef>
                <a:spcPts val="0"/>
              </a:spcBef>
              <a:spcAft>
                <a:spcPts val="0"/>
              </a:spcAft>
              <a:buClr>
                <a:schemeClr val="dk1"/>
              </a:buClr>
              <a:buSzPts val="1800"/>
              <a:buFont typeface="Old Standard TT"/>
              <a:buChar char="■"/>
            </a:pPr>
            <a:r>
              <a:rPr lang="en" sz="1800">
                <a:solidFill>
                  <a:schemeClr val="dk1"/>
                </a:solidFill>
                <a:latin typeface="Old Standard TT"/>
                <a:ea typeface="Old Standard TT"/>
                <a:cs typeface="Old Standard TT"/>
                <a:sym typeface="Old Standard TT"/>
              </a:rPr>
              <a:t>Total Expense by Category</a:t>
            </a:r>
            <a:endParaRPr sz="1800">
              <a:solidFill>
                <a:schemeClr val="dk1"/>
              </a:solidFill>
              <a:latin typeface="Old Standard TT"/>
              <a:ea typeface="Old Standard TT"/>
              <a:cs typeface="Old Standard TT"/>
              <a:sym typeface="Old Standard TT"/>
            </a:endParaRPr>
          </a:p>
          <a:p>
            <a:pPr indent="-342900" lvl="2" marL="1371600" rtl="0" algn="l">
              <a:spcBef>
                <a:spcPts val="0"/>
              </a:spcBef>
              <a:spcAft>
                <a:spcPts val="0"/>
              </a:spcAft>
              <a:buClr>
                <a:schemeClr val="dk1"/>
              </a:buClr>
              <a:buSzPts val="1800"/>
              <a:buFont typeface="Old Standard TT"/>
              <a:buChar char="■"/>
            </a:pPr>
            <a:r>
              <a:rPr lang="en" sz="1800">
                <a:solidFill>
                  <a:schemeClr val="dk1"/>
                </a:solidFill>
                <a:latin typeface="Old Standard TT"/>
                <a:ea typeface="Old Standard TT"/>
                <a:cs typeface="Old Standard TT"/>
                <a:sym typeface="Old Standard TT"/>
              </a:rPr>
              <a:t>Expense Trend</a:t>
            </a:r>
            <a:endParaRPr sz="1800">
              <a:solidFill>
                <a:schemeClr val="dk1"/>
              </a:solidFill>
              <a:latin typeface="Old Standard TT"/>
              <a:ea typeface="Old Standard TT"/>
              <a:cs typeface="Old Standard TT"/>
              <a:sym typeface="Old Standard TT"/>
            </a:endParaRPr>
          </a:p>
          <a:p>
            <a:pPr indent="-342900" lvl="2" marL="1371600" rtl="0" algn="l">
              <a:spcBef>
                <a:spcPts val="0"/>
              </a:spcBef>
              <a:spcAft>
                <a:spcPts val="0"/>
              </a:spcAft>
              <a:buClr>
                <a:schemeClr val="dk1"/>
              </a:buClr>
              <a:buSzPts val="1800"/>
              <a:buFont typeface="Old Standard TT"/>
              <a:buChar char="■"/>
            </a:pPr>
            <a:r>
              <a:rPr lang="en" sz="1800">
                <a:solidFill>
                  <a:schemeClr val="dk1"/>
                </a:solidFill>
                <a:latin typeface="Old Standard TT"/>
                <a:ea typeface="Old Standard TT"/>
                <a:cs typeface="Old Standard TT"/>
                <a:sym typeface="Old Standard TT"/>
              </a:rPr>
              <a:t>Highest and Lowest Spend Category</a:t>
            </a:r>
            <a:endParaRPr sz="1800">
              <a:solidFill>
                <a:schemeClr val="dk1"/>
              </a:solidFill>
              <a:latin typeface="Old Standard TT"/>
              <a:ea typeface="Old Standard TT"/>
              <a:cs typeface="Old Standard TT"/>
              <a:sym typeface="Old Standard TT"/>
            </a:endParaRPr>
          </a:p>
          <a:p>
            <a:pPr indent="0" lvl="0" marL="457200" rtl="0" algn="l">
              <a:spcBef>
                <a:spcPts val="0"/>
              </a:spcBef>
              <a:spcAft>
                <a:spcPts val="0"/>
              </a:spcAft>
              <a:buNone/>
            </a:pPr>
            <a:r>
              <a:t/>
            </a:r>
            <a:endParaRPr sz="1800">
              <a:solidFill>
                <a:schemeClr val="dk1"/>
              </a:solidFill>
              <a:latin typeface="Old Standard TT"/>
              <a:ea typeface="Old Standard TT"/>
              <a:cs typeface="Old Standard TT"/>
              <a:sym typeface="Old Standard TT"/>
            </a:endParaRPr>
          </a:p>
          <a:p>
            <a:pPr indent="-342900" lvl="0" marL="457200" rtl="0" algn="l">
              <a:spcBef>
                <a:spcPts val="0"/>
              </a:spcBef>
              <a:spcAft>
                <a:spcPts val="0"/>
              </a:spcAft>
              <a:buClr>
                <a:schemeClr val="dk1"/>
              </a:buClr>
              <a:buSzPts val="1800"/>
              <a:buFont typeface="Old Standard TT"/>
              <a:buChar char="●"/>
            </a:pPr>
            <a:r>
              <a:rPr lang="en" sz="1800">
                <a:solidFill>
                  <a:schemeClr val="dk1"/>
                </a:solidFill>
                <a:latin typeface="Old Standard TT"/>
                <a:ea typeface="Old Standard TT"/>
                <a:cs typeface="Old Standard TT"/>
                <a:sym typeface="Old Standard TT"/>
              </a:rPr>
              <a:t>Features</a:t>
            </a:r>
            <a:endParaRPr sz="1800">
              <a:solidFill>
                <a:schemeClr val="dk1"/>
              </a:solidFill>
              <a:latin typeface="Old Standard TT"/>
              <a:ea typeface="Old Standard TT"/>
              <a:cs typeface="Old Standard TT"/>
              <a:sym typeface="Old Standard TT"/>
            </a:endParaRPr>
          </a:p>
          <a:p>
            <a:pPr indent="-342900" lvl="1" marL="914400" rtl="0" algn="l">
              <a:spcBef>
                <a:spcPts val="0"/>
              </a:spcBef>
              <a:spcAft>
                <a:spcPts val="0"/>
              </a:spcAft>
              <a:buClr>
                <a:schemeClr val="dk1"/>
              </a:buClr>
              <a:buSzPts val="1800"/>
              <a:buFont typeface="Old Standard TT"/>
              <a:buChar char="○"/>
            </a:pPr>
            <a:r>
              <a:rPr lang="en" sz="1800">
                <a:solidFill>
                  <a:schemeClr val="dk1"/>
                </a:solidFill>
                <a:latin typeface="Old Standard TT"/>
                <a:ea typeface="Old Standard TT"/>
                <a:cs typeface="Old Standard TT"/>
                <a:sym typeface="Old Standard TT"/>
              </a:rPr>
              <a:t>Add/Delete Expenses, Bar Graph Data, etc… </a:t>
            </a:r>
            <a:endParaRPr sz="1800">
              <a:solidFill>
                <a:schemeClr val="dk1"/>
              </a:solidFill>
              <a:latin typeface="Old Standard TT"/>
              <a:ea typeface="Old Standard TT"/>
              <a:cs typeface="Old Standard TT"/>
              <a:sym typeface="Old Standard TT"/>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accent1"/>
        </a:solidFill>
      </p:bgPr>
    </p:bg>
    <p:spTree>
      <p:nvGrpSpPr>
        <p:cNvPr id="65" name="Shape 65"/>
        <p:cNvGrpSpPr/>
        <p:nvPr/>
      </p:nvGrpSpPr>
      <p:grpSpPr>
        <a:xfrm>
          <a:off x="0" y="0"/>
          <a:ext cx="0" cy="0"/>
          <a:chOff x="0" y="0"/>
          <a:chExt cx="0" cy="0"/>
        </a:xfrm>
      </p:grpSpPr>
      <p:sp>
        <p:nvSpPr>
          <p:cNvPr id="66" name="Google Shape;66;p15"/>
          <p:cNvSpPr txBox="1"/>
          <p:nvPr>
            <p:ph type="title"/>
          </p:nvPr>
        </p:nvSpPr>
        <p:spPr>
          <a:xfrm>
            <a:off x="46825" y="53375"/>
            <a:ext cx="3153000" cy="1010700"/>
          </a:xfrm>
          <a:prstGeom prst="rect">
            <a:avLst/>
          </a:prstGeom>
        </p:spPr>
        <p:txBody>
          <a:bodyPr anchorCtr="0" anchor="ctr" bIns="91425" lIns="91425" spcFirstLastPara="1" rIns="91425" wrap="square" tIns="91425">
            <a:normAutofit/>
          </a:bodyPr>
          <a:lstStyle/>
          <a:p>
            <a:pPr indent="0" lvl="0" marL="0" rtl="0" algn="l">
              <a:spcBef>
                <a:spcPts val="0"/>
              </a:spcBef>
              <a:spcAft>
                <a:spcPts val="0"/>
              </a:spcAft>
              <a:buNone/>
            </a:pPr>
            <a:r>
              <a:rPr lang="en" sz="3200"/>
              <a:t>App Overview</a:t>
            </a:r>
            <a:endParaRPr sz="3200"/>
          </a:p>
        </p:txBody>
      </p:sp>
      <p:sp>
        <p:nvSpPr>
          <p:cNvPr id="67" name="Google Shape;67;p15"/>
          <p:cNvSpPr txBox="1"/>
          <p:nvPr/>
        </p:nvSpPr>
        <p:spPr>
          <a:xfrm>
            <a:off x="0" y="823650"/>
            <a:ext cx="9015900" cy="1921500"/>
          </a:xfrm>
          <a:prstGeom prst="rect">
            <a:avLst/>
          </a:prstGeom>
          <a:noFill/>
          <a:ln>
            <a:noFill/>
          </a:ln>
        </p:spPr>
        <p:txBody>
          <a:bodyPr anchorCtr="0" anchor="t" bIns="91425" lIns="91425" spcFirstLastPara="1" rIns="91425" wrap="square" tIns="91425">
            <a:noAutofit/>
          </a:bodyPr>
          <a:lstStyle/>
          <a:p>
            <a:pPr indent="-342900" lvl="0" marL="457200" rtl="0" algn="l">
              <a:spcBef>
                <a:spcPts val="0"/>
              </a:spcBef>
              <a:spcAft>
                <a:spcPts val="0"/>
              </a:spcAft>
              <a:buClr>
                <a:schemeClr val="dk1"/>
              </a:buClr>
              <a:buSzPts val="1800"/>
              <a:buFont typeface="Old Standard TT"/>
              <a:buChar char="●"/>
            </a:pPr>
            <a:r>
              <a:rPr lang="en" sz="1800">
                <a:solidFill>
                  <a:schemeClr val="dk1"/>
                </a:solidFill>
                <a:latin typeface="Old Standard TT"/>
                <a:ea typeface="Old Standard TT"/>
                <a:cs typeface="Old Standard TT"/>
                <a:sym typeface="Old Standard TT"/>
              </a:rPr>
              <a:t>Left Side : Add expense section, Grand total of all expenses with category of highest and lowest spendings.</a:t>
            </a:r>
            <a:endParaRPr sz="1800">
              <a:solidFill>
                <a:schemeClr val="dk1"/>
              </a:solidFill>
              <a:latin typeface="Old Standard TT"/>
              <a:ea typeface="Old Standard TT"/>
              <a:cs typeface="Old Standard TT"/>
              <a:sym typeface="Old Standard TT"/>
            </a:endParaRPr>
          </a:p>
          <a:p>
            <a:pPr indent="-342900" lvl="0" marL="457200" rtl="0" algn="l">
              <a:spcBef>
                <a:spcPts val="0"/>
              </a:spcBef>
              <a:spcAft>
                <a:spcPts val="0"/>
              </a:spcAft>
              <a:buClr>
                <a:schemeClr val="dk1"/>
              </a:buClr>
              <a:buSzPts val="1800"/>
              <a:buFont typeface="Old Standard TT"/>
              <a:buChar char="●"/>
            </a:pPr>
            <a:r>
              <a:rPr lang="en" sz="1800">
                <a:solidFill>
                  <a:schemeClr val="dk1"/>
                </a:solidFill>
                <a:latin typeface="Old Standard TT"/>
                <a:ea typeface="Old Standard TT"/>
                <a:cs typeface="Old Standard TT"/>
                <a:sym typeface="Old Standard TT"/>
              </a:rPr>
              <a:t>Middle :  A table showing all the expenses, filtered by the desired categories (All categories selected on app start).</a:t>
            </a:r>
            <a:endParaRPr sz="1800">
              <a:solidFill>
                <a:schemeClr val="dk1"/>
              </a:solidFill>
              <a:latin typeface="Old Standard TT"/>
              <a:ea typeface="Old Standard TT"/>
              <a:cs typeface="Old Standard TT"/>
              <a:sym typeface="Old Standard TT"/>
            </a:endParaRPr>
          </a:p>
          <a:p>
            <a:pPr indent="-342900" lvl="0" marL="457200" rtl="0" algn="l">
              <a:spcBef>
                <a:spcPts val="0"/>
              </a:spcBef>
              <a:spcAft>
                <a:spcPts val="0"/>
              </a:spcAft>
              <a:buClr>
                <a:schemeClr val="dk1"/>
              </a:buClr>
              <a:buSzPts val="1800"/>
              <a:buFont typeface="Old Standard TT"/>
              <a:buChar char="●"/>
            </a:pPr>
            <a:r>
              <a:rPr lang="en" sz="1800">
                <a:solidFill>
                  <a:schemeClr val="dk1"/>
                </a:solidFill>
                <a:latin typeface="Old Standard TT"/>
                <a:ea typeface="Old Standard TT"/>
                <a:cs typeface="Old Standard TT"/>
                <a:sym typeface="Old Standard TT"/>
              </a:rPr>
              <a:t>Right Side: Bar graph showing spending from 1 year ago - present, along with filter category options and total of all bars in bar graph added up. </a:t>
            </a:r>
            <a:endParaRPr sz="1800">
              <a:solidFill>
                <a:schemeClr val="dk1"/>
              </a:solidFill>
              <a:latin typeface="Old Standard TT"/>
              <a:ea typeface="Old Standard TT"/>
              <a:cs typeface="Old Standard TT"/>
              <a:sym typeface="Old Standard TT"/>
            </a:endParaRPr>
          </a:p>
        </p:txBody>
      </p:sp>
      <p:pic>
        <p:nvPicPr>
          <p:cNvPr id="68" name="Google Shape;68;p15"/>
          <p:cNvPicPr preferRelativeResize="0"/>
          <p:nvPr/>
        </p:nvPicPr>
        <p:blipFill>
          <a:blip r:embed="rId3">
            <a:alphaModFix/>
          </a:blip>
          <a:stretch>
            <a:fillRect/>
          </a:stretch>
        </p:blipFill>
        <p:spPr>
          <a:xfrm>
            <a:off x="1875981" y="2700800"/>
            <a:ext cx="5392042" cy="2398350"/>
          </a:xfrm>
          <a:prstGeom prst="rect">
            <a:avLst/>
          </a:prstGeom>
          <a:noFill/>
          <a:ln>
            <a:noFill/>
          </a:ln>
        </p:spPr>
      </p:pic>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accent1"/>
        </a:solidFill>
      </p:bgPr>
    </p:bg>
    <p:spTree>
      <p:nvGrpSpPr>
        <p:cNvPr id="72" name="Shape 72"/>
        <p:cNvGrpSpPr/>
        <p:nvPr/>
      </p:nvGrpSpPr>
      <p:grpSpPr>
        <a:xfrm>
          <a:off x="0" y="0"/>
          <a:ext cx="0" cy="0"/>
          <a:chOff x="0" y="0"/>
          <a:chExt cx="0" cy="0"/>
        </a:xfrm>
      </p:grpSpPr>
      <p:sp>
        <p:nvSpPr>
          <p:cNvPr id="73" name="Google Shape;73;p16"/>
          <p:cNvSpPr txBox="1"/>
          <p:nvPr>
            <p:ph type="title"/>
          </p:nvPr>
        </p:nvSpPr>
        <p:spPr>
          <a:xfrm>
            <a:off x="258125" y="73900"/>
            <a:ext cx="4045200" cy="875400"/>
          </a:xfrm>
          <a:prstGeom prst="rect">
            <a:avLst/>
          </a:prstGeom>
        </p:spPr>
        <p:txBody>
          <a:bodyPr anchorCtr="0" anchor="b" bIns="91425" lIns="91425" spcFirstLastPara="1" rIns="91425" wrap="square" tIns="91425">
            <a:normAutofit/>
          </a:bodyPr>
          <a:lstStyle/>
          <a:p>
            <a:pPr indent="0" lvl="0" marL="0" rtl="0" algn="ctr">
              <a:spcBef>
                <a:spcPts val="0"/>
              </a:spcBef>
              <a:spcAft>
                <a:spcPts val="0"/>
              </a:spcAft>
              <a:buNone/>
            </a:pPr>
            <a:r>
              <a:rPr lang="en"/>
              <a:t>Tech Stack</a:t>
            </a:r>
            <a:endParaRPr/>
          </a:p>
        </p:txBody>
      </p:sp>
      <p:sp>
        <p:nvSpPr>
          <p:cNvPr id="74" name="Google Shape;74;p16"/>
          <p:cNvSpPr txBox="1"/>
          <p:nvPr>
            <p:ph idx="2" type="body"/>
          </p:nvPr>
        </p:nvSpPr>
        <p:spPr>
          <a:xfrm>
            <a:off x="4939500" y="724075"/>
            <a:ext cx="3837000" cy="3695100"/>
          </a:xfrm>
          <a:prstGeom prst="rect">
            <a:avLst/>
          </a:prstGeom>
        </p:spPr>
        <p:txBody>
          <a:bodyPr anchorCtr="0" anchor="ctr" bIns="91425" lIns="91425" spcFirstLastPara="1" rIns="91425" wrap="square" tIns="91425">
            <a:normAutofit/>
          </a:bodyPr>
          <a:lstStyle/>
          <a:p>
            <a:pPr indent="-342900" lvl="0" marL="457200" rtl="0" algn="l">
              <a:spcBef>
                <a:spcPts val="0"/>
              </a:spcBef>
              <a:spcAft>
                <a:spcPts val="0"/>
              </a:spcAft>
              <a:buSzPts val="1800"/>
              <a:buChar char="●"/>
            </a:pPr>
            <a:r>
              <a:rPr lang="en"/>
              <a:t>Backend : Flask - Lightweight, easy to set up. </a:t>
            </a:r>
            <a:endParaRPr/>
          </a:p>
          <a:p>
            <a:pPr indent="-342900" lvl="0" marL="457200" rtl="0" algn="l">
              <a:spcBef>
                <a:spcPts val="0"/>
              </a:spcBef>
              <a:spcAft>
                <a:spcPts val="0"/>
              </a:spcAft>
              <a:buSzPts val="1800"/>
              <a:buChar char="●"/>
            </a:pPr>
            <a:r>
              <a:rPr lang="en"/>
              <a:t>Frontend : HTML/CSS - Simplistic </a:t>
            </a:r>
            <a:r>
              <a:rPr lang="en"/>
              <a:t>integration</a:t>
            </a:r>
            <a:r>
              <a:rPr lang="en"/>
              <a:t> with backend.</a:t>
            </a:r>
            <a:endParaRPr/>
          </a:p>
          <a:p>
            <a:pPr indent="-342900" lvl="0" marL="457200" rtl="0" algn="l">
              <a:spcBef>
                <a:spcPts val="0"/>
              </a:spcBef>
              <a:spcAft>
                <a:spcPts val="0"/>
              </a:spcAft>
              <a:buSzPts val="1800"/>
              <a:buChar char="●"/>
            </a:pPr>
            <a:r>
              <a:rPr lang="en"/>
              <a:t>Database : SQLite : Serverless, portable, and </a:t>
            </a:r>
            <a:r>
              <a:rPr lang="en"/>
              <a:t>maintenance</a:t>
            </a:r>
            <a:r>
              <a:rPr lang="en"/>
              <a:t> free. </a:t>
            </a:r>
            <a:endParaRPr/>
          </a:p>
          <a:p>
            <a:pPr indent="0" lvl="0" marL="457200" rtl="0" algn="l">
              <a:spcBef>
                <a:spcPts val="1200"/>
              </a:spcBef>
              <a:spcAft>
                <a:spcPts val="1200"/>
              </a:spcAft>
              <a:buNone/>
            </a:pPr>
            <a:r>
              <a:t/>
            </a:r>
            <a:endParaRPr/>
          </a:p>
        </p:txBody>
      </p:sp>
      <p:pic>
        <p:nvPicPr>
          <p:cNvPr id="75" name="Google Shape;75;p16"/>
          <p:cNvPicPr preferRelativeResize="0"/>
          <p:nvPr/>
        </p:nvPicPr>
        <p:blipFill>
          <a:blip r:embed="rId3">
            <a:alphaModFix/>
          </a:blip>
          <a:stretch>
            <a:fillRect/>
          </a:stretch>
        </p:blipFill>
        <p:spPr>
          <a:xfrm>
            <a:off x="0" y="868025"/>
            <a:ext cx="2327875" cy="1549100"/>
          </a:xfrm>
          <a:prstGeom prst="rect">
            <a:avLst/>
          </a:prstGeom>
          <a:noFill/>
          <a:ln>
            <a:noFill/>
          </a:ln>
        </p:spPr>
      </p:pic>
      <p:pic>
        <p:nvPicPr>
          <p:cNvPr id="76" name="Google Shape;76;p16"/>
          <p:cNvPicPr preferRelativeResize="0"/>
          <p:nvPr/>
        </p:nvPicPr>
        <p:blipFill>
          <a:blip r:embed="rId4">
            <a:alphaModFix/>
          </a:blip>
          <a:stretch>
            <a:fillRect/>
          </a:stretch>
        </p:blipFill>
        <p:spPr>
          <a:xfrm>
            <a:off x="0" y="2343225"/>
            <a:ext cx="2327875" cy="1419438"/>
          </a:xfrm>
          <a:prstGeom prst="rect">
            <a:avLst/>
          </a:prstGeom>
          <a:noFill/>
          <a:ln>
            <a:noFill/>
          </a:ln>
        </p:spPr>
      </p:pic>
      <p:pic>
        <p:nvPicPr>
          <p:cNvPr id="77" name="Google Shape;77;p16"/>
          <p:cNvPicPr preferRelativeResize="0"/>
          <p:nvPr/>
        </p:nvPicPr>
        <p:blipFill>
          <a:blip r:embed="rId5">
            <a:alphaModFix/>
          </a:blip>
          <a:stretch>
            <a:fillRect/>
          </a:stretch>
        </p:blipFill>
        <p:spPr>
          <a:xfrm>
            <a:off x="0" y="3676650"/>
            <a:ext cx="3105150" cy="1466850"/>
          </a:xfrm>
          <a:prstGeom prst="rect">
            <a:avLst/>
          </a:prstGeom>
          <a:noFill/>
          <a:ln>
            <a:noFill/>
          </a:ln>
        </p:spPr>
      </p:pic>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accent1"/>
        </a:solidFill>
      </p:bgPr>
    </p:bg>
    <p:spTree>
      <p:nvGrpSpPr>
        <p:cNvPr id="81" name="Shape 81"/>
        <p:cNvGrpSpPr/>
        <p:nvPr/>
      </p:nvGrpSpPr>
      <p:grpSpPr>
        <a:xfrm>
          <a:off x="0" y="0"/>
          <a:ext cx="0" cy="0"/>
          <a:chOff x="0" y="0"/>
          <a:chExt cx="0" cy="0"/>
        </a:xfrm>
      </p:grpSpPr>
      <p:sp>
        <p:nvSpPr>
          <p:cNvPr id="82" name="Google Shape;82;p17"/>
          <p:cNvSpPr txBox="1"/>
          <p:nvPr>
            <p:ph type="title"/>
          </p:nvPr>
        </p:nvSpPr>
        <p:spPr>
          <a:xfrm>
            <a:off x="311700" y="186375"/>
            <a:ext cx="8520600" cy="6132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Important Files (frontend) : index.html, styles.css</a:t>
            </a:r>
            <a:endParaRPr/>
          </a:p>
        </p:txBody>
      </p:sp>
      <p:pic>
        <p:nvPicPr>
          <p:cNvPr id="83" name="Google Shape;83;p17"/>
          <p:cNvPicPr preferRelativeResize="0"/>
          <p:nvPr/>
        </p:nvPicPr>
        <p:blipFill>
          <a:blip r:embed="rId3">
            <a:alphaModFix/>
          </a:blip>
          <a:stretch>
            <a:fillRect/>
          </a:stretch>
        </p:blipFill>
        <p:spPr>
          <a:xfrm>
            <a:off x="2948675" y="822375"/>
            <a:ext cx="3128909" cy="1812725"/>
          </a:xfrm>
          <a:prstGeom prst="rect">
            <a:avLst/>
          </a:prstGeom>
          <a:noFill/>
          <a:ln>
            <a:noFill/>
          </a:ln>
        </p:spPr>
      </p:pic>
      <p:pic>
        <p:nvPicPr>
          <p:cNvPr id="84" name="Google Shape;84;p17"/>
          <p:cNvPicPr preferRelativeResize="0"/>
          <p:nvPr/>
        </p:nvPicPr>
        <p:blipFill>
          <a:blip r:embed="rId4">
            <a:alphaModFix/>
          </a:blip>
          <a:stretch>
            <a:fillRect/>
          </a:stretch>
        </p:blipFill>
        <p:spPr>
          <a:xfrm>
            <a:off x="6795452" y="799575"/>
            <a:ext cx="2348548" cy="1858325"/>
          </a:xfrm>
          <a:prstGeom prst="rect">
            <a:avLst/>
          </a:prstGeom>
          <a:noFill/>
          <a:ln>
            <a:noFill/>
          </a:ln>
        </p:spPr>
      </p:pic>
      <p:cxnSp>
        <p:nvCxnSpPr>
          <p:cNvPr id="85" name="Google Shape;85;p17"/>
          <p:cNvCxnSpPr/>
          <p:nvPr/>
        </p:nvCxnSpPr>
        <p:spPr>
          <a:xfrm>
            <a:off x="6222150" y="1694900"/>
            <a:ext cx="428700" cy="0"/>
          </a:xfrm>
          <a:prstGeom prst="straightConnector1">
            <a:avLst/>
          </a:prstGeom>
          <a:noFill/>
          <a:ln cap="flat" cmpd="sng" w="9525">
            <a:solidFill>
              <a:schemeClr val="dk2"/>
            </a:solidFill>
            <a:prstDash val="solid"/>
            <a:round/>
            <a:headEnd len="med" w="med" type="none"/>
            <a:tailEnd len="med" w="med" type="triangle"/>
          </a:ln>
        </p:spPr>
      </p:cxnSp>
      <p:pic>
        <p:nvPicPr>
          <p:cNvPr id="86" name="Google Shape;86;p17"/>
          <p:cNvPicPr preferRelativeResize="0"/>
          <p:nvPr/>
        </p:nvPicPr>
        <p:blipFill>
          <a:blip r:embed="rId5">
            <a:alphaModFix/>
          </a:blip>
          <a:stretch>
            <a:fillRect/>
          </a:stretch>
        </p:blipFill>
        <p:spPr>
          <a:xfrm>
            <a:off x="2948675" y="2657900"/>
            <a:ext cx="3128899" cy="1873699"/>
          </a:xfrm>
          <a:prstGeom prst="rect">
            <a:avLst/>
          </a:prstGeom>
          <a:noFill/>
          <a:ln>
            <a:noFill/>
          </a:ln>
        </p:spPr>
      </p:pic>
      <p:cxnSp>
        <p:nvCxnSpPr>
          <p:cNvPr id="87" name="Google Shape;87;p17"/>
          <p:cNvCxnSpPr/>
          <p:nvPr/>
        </p:nvCxnSpPr>
        <p:spPr>
          <a:xfrm>
            <a:off x="6222150" y="3594750"/>
            <a:ext cx="428700" cy="0"/>
          </a:xfrm>
          <a:prstGeom prst="straightConnector1">
            <a:avLst/>
          </a:prstGeom>
          <a:noFill/>
          <a:ln cap="flat" cmpd="sng" w="9525">
            <a:solidFill>
              <a:schemeClr val="dk2"/>
            </a:solidFill>
            <a:prstDash val="solid"/>
            <a:round/>
            <a:headEnd len="med" w="med" type="none"/>
            <a:tailEnd len="med" w="med" type="triangle"/>
          </a:ln>
        </p:spPr>
      </p:cxnSp>
      <p:pic>
        <p:nvPicPr>
          <p:cNvPr id="88" name="Google Shape;88;p17"/>
          <p:cNvPicPr preferRelativeResize="0"/>
          <p:nvPr/>
        </p:nvPicPr>
        <p:blipFill>
          <a:blip r:embed="rId6">
            <a:alphaModFix/>
          </a:blip>
          <a:stretch>
            <a:fillRect/>
          </a:stretch>
        </p:blipFill>
        <p:spPr>
          <a:xfrm>
            <a:off x="6755725" y="2834838"/>
            <a:ext cx="2388275" cy="1519813"/>
          </a:xfrm>
          <a:prstGeom prst="rect">
            <a:avLst/>
          </a:prstGeom>
          <a:noFill/>
          <a:ln>
            <a:noFill/>
          </a:ln>
        </p:spPr>
      </p:pic>
      <p:sp>
        <p:nvSpPr>
          <p:cNvPr id="89" name="Google Shape;89;p17"/>
          <p:cNvSpPr txBox="1"/>
          <p:nvPr/>
        </p:nvSpPr>
        <p:spPr>
          <a:xfrm>
            <a:off x="147800" y="1005050"/>
            <a:ext cx="2656200" cy="1908600"/>
          </a:xfrm>
          <a:prstGeom prst="rect">
            <a:avLst/>
          </a:prstGeom>
          <a:noFill/>
          <a:ln>
            <a:noFill/>
          </a:ln>
        </p:spPr>
        <p:txBody>
          <a:bodyPr anchorCtr="0" anchor="t" bIns="91425" lIns="91425" spcFirstLastPara="1" rIns="91425" wrap="square" tIns="91425">
            <a:spAutoFit/>
          </a:bodyPr>
          <a:lstStyle/>
          <a:p>
            <a:pPr indent="-317500" lvl="0" marL="457200" rtl="0" algn="l">
              <a:spcBef>
                <a:spcPts val="0"/>
              </a:spcBef>
              <a:spcAft>
                <a:spcPts val="0"/>
              </a:spcAft>
              <a:buClr>
                <a:schemeClr val="dk1"/>
              </a:buClr>
              <a:buSzPts val="1400"/>
              <a:buFont typeface="Old Standard TT"/>
              <a:buChar char="●"/>
            </a:pPr>
            <a:r>
              <a:rPr b="1" lang="en">
                <a:solidFill>
                  <a:schemeClr val="dk1"/>
                </a:solidFill>
                <a:latin typeface="Old Standard TT"/>
                <a:ea typeface="Old Standard TT"/>
                <a:cs typeface="Old Standard TT"/>
                <a:sym typeface="Old Standard TT"/>
              </a:rPr>
              <a:t>index.html</a:t>
            </a:r>
            <a:endParaRPr b="1">
              <a:solidFill>
                <a:schemeClr val="dk1"/>
              </a:solidFill>
              <a:latin typeface="Old Standard TT"/>
              <a:ea typeface="Old Standard TT"/>
              <a:cs typeface="Old Standard TT"/>
              <a:sym typeface="Old Standard TT"/>
            </a:endParaRPr>
          </a:p>
          <a:p>
            <a:pPr indent="-317500" lvl="1" marL="914400" rtl="0" algn="l">
              <a:spcBef>
                <a:spcPts val="0"/>
              </a:spcBef>
              <a:spcAft>
                <a:spcPts val="0"/>
              </a:spcAft>
              <a:buClr>
                <a:schemeClr val="dk1"/>
              </a:buClr>
              <a:buSzPts val="1400"/>
              <a:buFont typeface="Old Standard TT"/>
              <a:buChar char="○"/>
            </a:pPr>
            <a:r>
              <a:rPr lang="en">
                <a:solidFill>
                  <a:schemeClr val="dk1"/>
                </a:solidFill>
                <a:latin typeface="Old Standard TT"/>
                <a:ea typeface="Old Standard TT"/>
                <a:cs typeface="Old Standard TT"/>
                <a:sym typeface="Old Standard TT"/>
              </a:rPr>
              <a:t>Structures the contents that is seen on the web-app</a:t>
            </a:r>
            <a:endParaRPr>
              <a:solidFill>
                <a:schemeClr val="dk1"/>
              </a:solidFill>
              <a:latin typeface="Old Standard TT"/>
              <a:ea typeface="Old Standard TT"/>
              <a:cs typeface="Old Standard TT"/>
              <a:sym typeface="Old Standard TT"/>
            </a:endParaRPr>
          </a:p>
          <a:p>
            <a:pPr indent="-317500" lvl="0" marL="457200" rtl="0" algn="l">
              <a:spcBef>
                <a:spcPts val="0"/>
              </a:spcBef>
              <a:spcAft>
                <a:spcPts val="0"/>
              </a:spcAft>
              <a:buClr>
                <a:schemeClr val="dk1"/>
              </a:buClr>
              <a:buSzPts val="1400"/>
              <a:buFont typeface="Old Standard TT"/>
              <a:buChar char="●"/>
            </a:pPr>
            <a:r>
              <a:rPr b="1" lang="en">
                <a:solidFill>
                  <a:schemeClr val="dk1"/>
                </a:solidFill>
                <a:latin typeface="Old Standard TT"/>
                <a:ea typeface="Old Standard TT"/>
                <a:cs typeface="Old Standard TT"/>
                <a:sym typeface="Old Standard TT"/>
              </a:rPr>
              <a:t>styles.css</a:t>
            </a:r>
            <a:endParaRPr b="1">
              <a:solidFill>
                <a:schemeClr val="dk1"/>
              </a:solidFill>
              <a:latin typeface="Old Standard TT"/>
              <a:ea typeface="Old Standard TT"/>
              <a:cs typeface="Old Standard TT"/>
              <a:sym typeface="Old Standard TT"/>
            </a:endParaRPr>
          </a:p>
          <a:p>
            <a:pPr indent="-317500" lvl="1" marL="914400" rtl="0" algn="l">
              <a:spcBef>
                <a:spcPts val="0"/>
              </a:spcBef>
              <a:spcAft>
                <a:spcPts val="0"/>
              </a:spcAft>
              <a:buClr>
                <a:schemeClr val="dk1"/>
              </a:buClr>
              <a:buSzPts val="1400"/>
              <a:buFont typeface="Old Standard TT"/>
              <a:buChar char="○"/>
            </a:pPr>
            <a:r>
              <a:rPr lang="en">
                <a:solidFill>
                  <a:schemeClr val="dk1"/>
                </a:solidFill>
                <a:latin typeface="Old Standard TT"/>
                <a:ea typeface="Old Standard TT"/>
                <a:cs typeface="Old Standard TT"/>
                <a:sym typeface="Old Standard TT"/>
              </a:rPr>
              <a:t>Styles and formats the contents of the html file. </a:t>
            </a:r>
            <a:endParaRPr>
              <a:solidFill>
                <a:schemeClr val="dk1"/>
              </a:solidFill>
              <a:latin typeface="Old Standard TT"/>
              <a:ea typeface="Old Standard TT"/>
              <a:cs typeface="Old Standard TT"/>
              <a:sym typeface="Old Standard TT"/>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accent1"/>
        </a:solidFill>
      </p:bgPr>
    </p:bg>
    <p:spTree>
      <p:nvGrpSpPr>
        <p:cNvPr id="93" name="Shape 93"/>
        <p:cNvGrpSpPr/>
        <p:nvPr/>
      </p:nvGrpSpPr>
      <p:grpSpPr>
        <a:xfrm>
          <a:off x="0" y="0"/>
          <a:ext cx="0" cy="0"/>
          <a:chOff x="0" y="0"/>
          <a:chExt cx="0" cy="0"/>
        </a:xfrm>
      </p:grpSpPr>
      <p:sp>
        <p:nvSpPr>
          <p:cNvPr id="94" name="Google Shape;94;p18"/>
          <p:cNvSpPr txBox="1"/>
          <p:nvPr>
            <p:ph idx="1" type="body"/>
          </p:nvPr>
        </p:nvSpPr>
        <p:spPr>
          <a:xfrm>
            <a:off x="103450" y="888275"/>
            <a:ext cx="2851200" cy="3397200"/>
          </a:xfrm>
          <a:prstGeom prst="rect">
            <a:avLst/>
          </a:prstGeom>
        </p:spPr>
        <p:txBody>
          <a:bodyPr anchorCtr="0" anchor="t" bIns="91425" lIns="91425" spcFirstLastPara="1" rIns="91425" wrap="square" tIns="91425">
            <a:normAutofit/>
          </a:bodyPr>
          <a:lstStyle/>
          <a:p>
            <a:pPr indent="-304800" lvl="0" marL="457200" rtl="0" algn="l">
              <a:spcBef>
                <a:spcPts val="0"/>
              </a:spcBef>
              <a:spcAft>
                <a:spcPts val="0"/>
              </a:spcAft>
              <a:buClr>
                <a:schemeClr val="dk1"/>
              </a:buClr>
              <a:buSzPts val="1200"/>
              <a:buChar char="●"/>
            </a:pPr>
            <a:r>
              <a:rPr b="1" lang="en">
                <a:solidFill>
                  <a:schemeClr val="dk1"/>
                </a:solidFill>
              </a:rPr>
              <a:t>main.py </a:t>
            </a:r>
            <a:endParaRPr b="1">
              <a:solidFill>
                <a:schemeClr val="dk1"/>
              </a:solidFill>
            </a:endParaRPr>
          </a:p>
          <a:p>
            <a:pPr indent="-317500" lvl="1" marL="914400" rtl="0" algn="l">
              <a:spcBef>
                <a:spcPts val="0"/>
              </a:spcBef>
              <a:spcAft>
                <a:spcPts val="0"/>
              </a:spcAft>
              <a:buClr>
                <a:schemeClr val="dk1"/>
              </a:buClr>
              <a:buSzPts val="1400"/>
              <a:buChar char="○"/>
            </a:pPr>
            <a:r>
              <a:rPr lang="en" sz="1400">
                <a:solidFill>
                  <a:schemeClr val="dk1"/>
                </a:solidFill>
              </a:rPr>
              <a:t>Contains code to start the web-app, initialize the db, add/delete expenses, and render the html template. </a:t>
            </a:r>
            <a:endParaRPr sz="1400">
              <a:solidFill>
                <a:schemeClr val="dk1"/>
              </a:solidFill>
            </a:endParaRPr>
          </a:p>
          <a:p>
            <a:pPr indent="-317500" lvl="0" marL="457200" rtl="0" algn="l">
              <a:spcBef>
                <a:spcPts val="0"/>
              </a:spcBef>
              <a:spcAft>
                <a:spcPts val="0"/>
              </a:spcAft>
              <a:buClr>
                <a:schemeClr val="dk1"/>
              </a:buClr>
              <a:buSzPts val="1400"/>
              <a:buChar char="●"/>
            </a:pPr>
            <a:r>
              <a:rPr b="1" lang="en">
                <a:solidFill>
                  <a:schemeClr val="dk1"/>
                </a:solidFill>
              </a:rPr>
              <a:t>visualization.py </a:t>
            </a:r>
            <a:endParaRPr b="1">
              <a:solidFill>
                <a:schemeClr val="dk1"/>
              </a:solidFill>
            </a:endParaRPr>
          </a:p>
          <a:p>
            <a:pPr indent="-317500" lvl="1" marL="914400" rtl="0" algn="l">
              <a:spcBef>
                <a:spcPts val="0"/>
              </a:spcBef>
              <a:spcAft>
                <a:spcPts val="0"/>
              </a:spcAft>
              <a:buClr>
                <a:schemeClr val="dk1"/>
              </a:buClr>
              <a:buSzPts val="1400"/>
              <a:buChar char="○"/>
            </a:pPr>
            <a:r>
              <a:rPr lang="en" sz="1400">
                <a:solidFill>
                  <a:schemeClr val="dk1"/>
                </a:solidFill>
              </a:rPr>
              <a:t>Has functions used to create the bar graph and to calculate the highest and lowest category spending.</a:t>
            </a:r>
            <a:endParaRPr sz="1400">
              <a:solidFill>
                <a:schemeClr val="dk1"/>
              </a:solidFill>
            </a:endParaRPr>
          </a:p>
        </p:txBody>
      </p:sp>
      <p:sp>
        <p:nvSpPr>
          <p:cNvPr id="95" name="Google Shape;95;p18"/>
          <p:cNvSpPr txBox="1"/>
          <p:nvPr>
            <p:ph type="title"/>
          </p:nvPr>
        </p:nvSpPr>
        <p:spPr>
          <a:xfrm>
            <a:off x="103450" y="223325"/>
            <a:ext cx="9001200" cy="6132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2800"/>
              <a:t>Important Files (backend) : </a:t>
            </a:r>
            <a:r>
              <a:rPr lang="en"/>
              <a:t>app</a:t>
            </a:r>
            <a:r>
              <a:rPr lang="en" sz="2800"/>
              <a:t>.py and visualization.py</a:t>
            </a:r>
            <a:endParaRPr sz="2800"/>
          </a:p>
        </p:txBody>
      </p:sp>
      <p:pic>
        <p:nvPicPr>
          <p:cNvPr id="96" name="Google Shape;96;p18"/>
          <p:cNvPicPr preferRelativeResize="0"/>
          <p:nvPr/>
        </p:nvPicPr>
        <p:blipFill>
          <a:blip r:embed="rId3">
            <a:alphaModFix/>
          </a:blip>
          <a:stretch>
            <a:fillRect/>
          </a:stretch>
        </p:blipFill>
        <p:spPr>
          <a:xfrm>
            <a:off x="4439975" y="836525"/>
            <a:ext cx="4704024" cy="2089949"/>
          </a:xfrm>
          <a:prstGeom prst="rect">
            <a:avLst/>
          </a:prstGeom>
          <a:noFill/>
          <a:ln>
            <a:noFill/>
          </a:ln>
        </p:spPr>
      </p:pic>
      <p:pic>
        <p:nvPicPr>
          <p:cNvPr id="97" name="Google Shape;97;p18"/>
          <p:cNvPicPr preferRelativeResize="0"/>
          <p:nvPr/>
        </p:nvPicPr>
        <p:blipFill>
          <a:blip r:embed="rId4">
            <a:alphaModFix/>
          </a:blip>
          <a:stretch>
            <a:fillRect/>
          </a:stretch>
        </p:blipFill>
        <p:spPr>
          <a:xfrm>
            <a:off x="5901525" y="2926474"/>
            <a:ext cx="3242469" cy="1912226"/>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accent1"/>
        </a:solidFill>
      </p:bgPr>
    </p:bg>
    <p:spTree>
      <p:nvGrpSpPr>
        <p:cNvPr id="101" name="Shape 101"/>
        <p:cNvGrpSpPr/>
        <p:nvPr/>
      </p:nvGrpSpPr>
      <p:grpSpPr>
        <a:xfrm>
          <a:off x="0" y="0"/>
          <a:ext cx="0" cy="0"/>
          <a:chOff x="0" y="0"/>
          <a:chExt cx="0" cy="0"/>
        </a:xfrm>
      </p:grpSpPr>
      <p:sp>
        <p:nvSpPr>
          <p:cNvPr id="102" name="Google Shape;102;p19"/>
          <p:cNvSpPr txBox="1"/>
          <p:nvPr>
            <p:ph idx="1" type="body"/>
          </p:nvPr>
        </p:nvSpPr>
        <p:spPr>
          <a:xfrm>
            <a:off x="103450" y="888275"/>
            <a:ext cx="4131000" cy="4173900"/>
          </a:xfrm>
          <a:prstGeom prst="rect">
            <a:avLst/>
          </a:prstGeom>
        </p:spPr>
        <p:txBody>
          <a:bodyPr anchorCtr="0" anchor="t" bIns="91425" lIns="91425" spcFirstLastPara="1" rIns="91425" wrap="square" tIns="91425">
            <a:normAutofit/>
          </a:bodyPr>
          <a:lstStyle/>
          <a:p>
            <a:pPr indent="-304800" lvl="0" marL="457200" rtl="0" algn="l">
              <a:spcBef>
                <a:spcPts val="0"/>
              </a:spcBef>
              <a:spcAft>
                <a:spcPts val="0"/>
              </a:spcAft>
              <a:buClr>
                <a:schemeClr val="dk1"/>
              </a:buClr>
              <a:buSzPts val="1200"/>
              <a:buChar char="●"/>
            </a:pPr>
            <a:r>
              <a:rPr b="1" lang="en">
                <a:solidFill>
                  <a:schemeClr val="dk1"/>
                </a:solidFill>
              </a:rPr>
              <a:t>expense.db - Stores the </a:t>
            </a:r>
            <a:r>
              <a:rPr b="1" lang="en">
                <a:solidFill>
                  <a:schemeClr val="dk1"/>
                </a:solidFill>
              </a:rPr>
              <a:t>expense data in a r</a:t>
            </a:r>
            <a:r>
              <a:rPr b="1" lang="en">
                <a:solidFill>
                  <a:schemeClr val="dk1"/>
                </a:solidFill>
              </a:rPr>
              <a:t>elational database that uses SQL, featuring one table with columns as follows:</a:t>
            </a:r>
            <a:endParaRPr b="1">
              <a:solidFill>
                <a:schemeClr val="dk1"/>
              </a:solidFill>
            </a:endParaRPr>
          </a:p>
          <a:p>
            <a:pPr indent="-304800" lvl="1" marL="914400" rtl="0" algn="l">
              <a:spcBef>
                <a:spcPts val="0"/>
              </a:spcBef>
              <a:spcAft>
                <a:spcPts val="0"/>
              </a:spcAft>
              <a:buClr>
                <a:schemeClr val="dk1"/>
              </a:buClr>
              <a:buSzPts val="1200"/>
              <a:buChar char="○"/>
            </a:pPr>
            <a:r>
              <a:rPr b="1" lang="en">
                <a:solidFill>
                  <a:schemeClr val="dk1"/>
                </a:solidFill>
              </a:rPr>
              <a:t>i</a:t>
            </a:r>
            <a:r>
              <a:rPr b="1" lang="en">
                <a:solidFill>
                  <a:schemeClr val="dk1"/>
                </a:solidFill>
              </a:rPr>
              <a:t>d (Primary Key) - Unique ID for expense</a:t>
            </a:r>
            <a:endParaRPr b="1">
              <a:solidFill>
                <a:schemeClr val="dk1"/>
              </a:solidFill>
            </a:endParaRPr>
          </a:p>
          <a:p>
            <a:pPr indent="-304800" lvl="1" marL="914400" rtl="0" algn="l">
              <a:spcBef>
                <a:spcPts val="0"/>
              </a:spcBef>
              <a:spcAft>
                <a:spcPts val="0"/>
              </a:spcAft>
              <a:buClr>
                <a:schemeClr val="dk1"/>
              </a:buClr>
              <a:buSzPts val="1200"/>
              <a:buChar char="○"/>
            </a:pPr>
            <a:r>
              <a:rPr b="1" lang="en">
                <a:solidFill>
                  <a:schemeClr val="dk1"/>
                </a:solidFill>
              </a:rPr>
              <a:t>d</a:t>
            </a:r>
            <a:r>
              <a:rPr b="1" lang="en">
                <a:solidFill>
                  <a:schemeClr val="dk1"/>
                </a:solidFill>
              </a:rPr>
              <a:t>escription - </a:t>
            </a:r>
            <a:r>
              <a:rPr b="1" lang="en">
                <a:solidFill>
                  <a:schemeClr val="dk1"/>
                </a:solidFill>
              </a:rPr>
              <a:t>Description</a:t>
            </a:r>
            <a:r>
              <a:rPr b="1" lang="en">
                <a:solidFill>
                  <a:schemeClr val="dk1"/>
                </a:solidFill>
              </a:rPr>
              <a:t> of expense</a:t>
            </a:r>
            <a:endParaRPr b="1">
              <a:solidFill>
                <a:schemeClr val="dk1"/>
              </a:solidFill>
            </a:endParaRPr>
          </a:p>
          <a:p>
            <a:pPr indent="-304800" lvl="1" marL="914400" rtl="0" algn="l">
              <a:spcBef>
                <a:spcPts val="0"/>
              </a:spcBef>
              <a:spcAft>
                <a:spcPts val="0"/>
              </a:spcAft>
              <a:buClr>
                <a:schemeClr val="dk1"/>
              </a:buClr>
              <a:buSzPts val="1200"/>
              <a:buChar char="○"/>
            </a:pPr>
            <a:r>
              <a:rPr b="1" lang="en">
                <a:solidFill>
                  <a:schemeClr val="dk1"/>
                </a:solidFill>
              </a:rPr>
              <a:t>a</a:t>
            </a:r>
            <a:r>
              <a:rPr b="1" lang="en">
                <a:solidFill>
                  <a:schemeClr val="dk1"/>
                </a:solidFill>
              </a:rPr>
              <a:t>mount - Money spent (in $)</a:t>
            </a:r>
            <a:endParaRPr b="1">
              <a:solidFill>
                <a:schemeClr val="dk1"/>
              </a:solidFill>
            </a:endParaRPr>
          </a:p>
          <a:p>
            <a:pPr indent="-304800" lvl="1" marL="914400" rtl="0" algn="l">
              <a:spcBef>
                <a:spcPts val="0"/>
              </a:spcBef>
              <a:spcAft>
                <a:spcPts val="0"/>
              </a:spcAft>
              <a:buClr>
                <a:schemeClr val="dk1"/>
              </a:buClr>
              <a:buSzPts val="1200"/>
              <a:buChar char="○"/>
            </a:pPr>
            <a:r>
              <a:rPr b="1" lang="en">
                <a:solidFill>
                  <a:schemeClr val="dk1"/>
                </a:solidFill>
              </a:rPr>
              <a:t>c</a:t>
            </a:r>
            <a:r>
              <a:rPr b="1" lang="en">
                <a:solidFill>
                  <a:schemeClr val="dk1"/>
                </a:solidFill>
              </a:rPr>
              <a:t>ategory- type of expense (Food, Bills, Transport, Investment, Other)</a:t>
            </a:r>
            <a:endParaRPr b="1">
              <a:solidFill>
                <a:schemeClr val="dk1"/>
              </a:solidFill>
            </a:endParaRPr>
          </a:p>
          <a:p>
            <a:pPr indent="-304800" lvl="1" marL="914400" rtl="0" algn="l">
              <a:spcBef>
                <a:spcPts val="0"/>
              </a:spcBef>
              <a:spcAft>
                <a:spcPts val="0"/>
              </a:spcAft>
              <a:buClr>
                <a:schemeClr val="dk1"/>
              </a:buClr>
              <a:buSzPts val="1200"/>
              <a:buChar char="○"/>
            </a:pPr>
            <a:r>
              <a:rPr b="1" lang="en">
                <a:solidFill>
                  <a:schemeClr val="dk1"/>
                </a:solidFill>
              </a:rPr>
              <a:t>d</a:t>
            </a:r>
            <a:r>
              <a:rPr b="1" lang="en">
                <a:solidFill>
                  <a:schemeClr val="dk1"/>
                </a:solidFill>
              </a:rPr>
              <a:t>ate - When the expense </a:t>
            </a:r>
            <a:r>
              <a:rPr b="1" lang="en">
                <a:solidFill>
                  <a:schemeClr val="dk1"/>
                </a:solidFill>
              </a:rPr>
              <a:t>occurred (M/D/Y). </a:t>
            </a:r>
            <a:endParaRPr b="1">
              <a:solidFill>
                <a:schemeClr val="dk1"/>
              </a:solidFill>
            </a:endParaRPr>
          </a:p>
        </p:txBody>
      </p:sp>
      <p:sp>
        <p:nvSpPr>
          <p:cNvPr id="103" name="Google Shape;103;p19"/>
          <p:cNvSpPr txBox="1"/>
          <p:nvPr>
            <p:ph type="title"/>
          </p:nvPr>
        </p:nvSpPr>
        <p:spPr>
          <a:xfrm>
            <a:off x="103450" y="223325"/>
            <a:ext cx="9001200" cy="6132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2800"/>
              <a:t>Important Files (database) : expense.db</a:t>
            </a:r>
            <a:endParaRPr sz="2800"/>
          </a:p>
        </p:txBody>
      </p:sp>
      <p:pic>
        <p:nvPicPr>
          <p:cNvPr id="104" name="Google Shape;104;p19"/>
          <p:cNvPicPr preferRelativeResize="0"/>
          <p:nvPr/>
        </p:nvPicPr>
        <p:blipFill>
          <a:blip r:embed="rId3">
            <a:alphaModFix/>
          </a:blip>
          <a:stretch>
            <a:fillRect/>
          </a:stretch>
        </p:blipFill>
        <p:spPr>
          <a:xfrm>
            <a:off x="5267325" y="888275"/>
            <a:ext cx="3876675" cy="3209925"/>
          </a:xfrm>
          <a:prstGeom prst="rect">
            <a:avLst/>
          </a:prstGeom>
          <a:noFill/>
          <a:ln>
            <a:noFill/>
          </a:ln>
        </p:spPr>
      </p:pic>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accent1"/>
        </a:solidFill>
      </p:bgPr>
    </p:bg>
    <p:spTree>
      <p:nvGrpSpPr>
        <p:cNvPr id="108" name="Shape 108"/>
        <p:cNvGrpSpPr/>
        <p:nvPr/>
      </p:nvGrpSpPr>
      <p:grpSpPr>
        <a:xfrm>
          <a:off x="0" y="0"/>
          <a:ext cx="0" cy="0"/>
          <a:chOff x="0" y="0"/>
          <a:chExt cx="0" cy="0"/>
        </a:xfrm>
      </p:grpSpPr>
      <p:sp>
        <p:nvSpPr>
          <p:cNvPr id="109" name="Google Shape;109;p20"/>
          <p:cNvSpPr txBox="1"/>
          <p:nvPr>
            <p:ph type="title"/>
          </p:nvPr>
        </p:nvSpPr>
        <p:spPr>
          <a:xfrm>
            <a:off x="103450" y="223325"/>
            <a:ext cx="9001200" cy="6132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Running the App</a:t>
            </a:r>
            <a:endParaRPr sz="2800"/>
          </a:p>
        </p:txBody>
      </p:sp>
      <p:sp>
        <p:nvSpPr>
          <p:cNvPr id="110" name="Google Shape;110;p20"/>
          <p:cNvSpPr txBox="1"/>
          <p:nvPr/>
        </p:nvSpPr>
        <p:spPr>
          <a:xfrm>
            <a:off x="-66525" y="836525"/>
            <a:ext cx="6917100" cy="3894600"/>
          </a:xfrm>
          <a:prstGeom prst="rect">
            <a:avLst/>
          </a:prstGeom>
          <a:noFill/>
          <a:ln>
            <a:noFill/>
          </a:ln>
        </p:spPr>
        <p:txBody>
          <a:bodyPr anchorCtr="0" anchor="t" bIns="91425" lIns="91425" spcFirstLastPara="1" rIns="91425" wrap="square" tIns="91425">
            <a:noAutofit/>
          </a:bodyPr>
          <a:lstStyle/>
          <a:p>
            <a:pPr indent="-317500" lvl="0" marL="457200" rtl="0" algn="l">
              <a:spcBef>
                <a:spcPts val="0"/>
              </a:spcBef>
              <a:spcAft>
                <a:spcPts val="0"/>
              </a:spcAft>
              <a:buClr>
                <a:schemeClr val="dk1"/>
              </a:buClr>
              <a:buSzPts val="1400"/>
              <a:buChar char="●"/>
            </a:pPr>
            <a:r>
              <a:rPr lang="en">
                <a:solidFill>
                  <a:schemeClr val="dk1"/>
                </a:solidFill>
              </a:rPr>
              <a:t>Required Software</a:t>
            </a:r>
            <a:endParaRPr>
              <a:solidFill>
                <a:schemeClr val="dk1"/>
              </a:solidFill>
            </a:endParaRPr>
          </a:p>
          <a:p>
            <a:pPr indent="-317500" lvl="1" marL="914400" rtl="0" algn="l">
              <a:spcBef>
                <a:spcPts val="0"/>
              </a:spcBef>
              <a:spcAft>
                <a:spcPts val="0"/>
              </a:spcAft>
              <a:buClr>
                <a:schemeClr val="dk1"/>
              </a:buClr>
              <a:buSzPts val="1400"/>
              <a:buChar char="○"/>
            </a:pPr>
            <a:r>
              <a:rPr lang="en">
                <a:solidFill>
                  <a:schemeClr val="dk1"/>
                </a:solidFill>
              </a:rPr>
              <a:t>Python</a:t>
            </a:r>
            <a:endParaRPr>
              <a:solidFill>
                <a:schemeClr val="dk1"/>
              </a:solidFill>
            </a:endParaRPr>
          </a:p>
          <a:p>
            <a:pPr indent="-317500" lvl="1" marL="914400" rtl="0" algn="l">
              <a:spcBef>
                <a:spcPts val="0"/>
              </a:spcBef>
              <a:spcAft>
                <a:spcPts val="0"/>
              </a:spcAft>
              <a:buClr>
                <a:schemeClr val="dk1"/>
              </a:buClr>
              <a:buSzPts val="1400"/>
              <a:buChar char="○"/>
            </a:pPr>
            <a:r>
              <a:rPr lang="en">
                <a:solidFill>
                  <a:schemeClr val="dk1"/>
                </a:solidFill>
              </a:rPr>
              <a:t>Git Bash</a:t>
            </a:r>
            <a:endParaRPr>
              <a:solidFill>
                <a:schemeClr val="dk1"/>
              </a:solidFill>
            </a:endParaRPr>
          </a:p>
          <a:p>
            <a:pPr indent="-317500" lvl="1" marL="914400" rtl="0" algn="l">
              <a:spcBef>
                <a:spcPts val="0"/>
              </a:spcBef>
              <a:spcAft>
                <a:spcPts val="0"/>
              </a:spcAft>
              <a:buClr>
                <a:schemeClr val="dk1"/>
              </a:buClr>
              <a:buSzPts val="1400"/>
              <a:buChar char="○"/>
            </a:pPr>
            <a:r>
              <a:rPr lang="en">
                <a:solidFill>
                  <a:schemeClr val="dk1"/>
                </a:solidFill>
              </a:rPr>
              <a:t>Web Browser (Chrome, Firefox, Microsoft Edge, etc..)</a:t>
            </a:r>
            <a:endParaRPr>
              <a:solidFill>
                <a:schemeClr val="dk1"/>
              </a:solidFill>
            </a:endParaRPr>
          </a:p>
          <a:p>
            <a:pPr indent="-317500" lvl="0" marL="457200" rtl="0" algn="l">
              <a:spcBef>
                <a:spcPts val="0"/>
              </a:spcBef>
              <a:spcAft>
                <a:spcPts val="0"/>
              </a:spcAft>
              <a:buClr>
                <a:schemeClr val="dk1"/>
              </a:buClr>
              <a:buSzPts val="1400"/>
              <a:buChar char="●"/>
            </a:pPr>
            <a:r>
              <a:rPr lang="en">
                <a:solidFill>
                  <a:schemeClr val="dk1"/>
                </a:solidFill>
              </a:rPr>
              <a:t>Run Process (Windows) </a:t>
            </a:r>
            <a:endParaRPr>
              <a:solidFill>
                <a:schemeClr val="dk1"/>
              </a:solidFill>
            </a:endParaRPr>
          </a:p>
          <a:p>
            <a:pPr indent="-317500" lvl="1" marL="914400" rtl="0" algn="l">
              <a:spcBef>
                <a:spcPts val="0"/>
              </a:spcBef>
              <a:spcAft>
                <a:spcPts val="0"/>
              </a:spcAft>
              <a:buClr>
                <a:schemeClr val="dk1"/>
              </a:buClr>
              <a:buSzPts val="1400"/>
              <a:buChar char="○"/>
            </a:pPr>
            <a:r>
              <a:rPr lang="en">
                <a:solidFill>
                  <a:schemeClr val="dk1"/>
                </a:solidFill>
              </a:rPr>
              <a:t>Locate the desired directory for the app (can be anywhere), right click and select the option “Open Git Bash Here”</a:t>
            </a:r>
            <a:endParaRPr>
              <a:solidFill>
                <a:schemeClr val="dk1"/>
              </a:solidFill>
            </a:endParaRPr>
          </a:p>
          <a:p>
            <a:pPr indent="-317500" lvl="1" marL="914400" rtl="0" algn="l">
              <a:spcBef>
                <a:spcPts val="0"/>
              </a:spcBef>
              <a:spcAft>
                <a:spcPts val="0"/>
              </a:spcAft>
              <a:buClr>
                <a:schemeClr val="dk1"/>
              </a:buClr>
              <a:buSzPts val="1400"/>
              <a:buChar char="○"/>
            </a:pPr>
            <a:r>
              <a:rPr lang="en">
                <a:solidFill>
                  <a:schemeClr val="dk1"/>
                </a:solidFill>
              </a:rPr>
              <a:t>A Git Bash Terminal Window will appear, enter the follow commands:</a:t>
            </a:r>
            <a:endParaRPr>
              <a:solidFill>
                <a:schemeClr val="dk1"/>
              </a:solidFill>
            </a:endParaRPr>
          </a:p>
          <a:p>
            <a:pPr indent="-317500" lvl="2" marL="1371600" rtl="0" algn="l">
              <a:spcBef>
                <a:spcPts val="0"/>
              </a:spcBef>
              <a:spcAft>
                <a:spcPts val="0"/>
              </a:spcAft>
              <a:buClr>
                <a:schemeClr val="dk1"/>
              </a:buClr>
              <a:buSzPts val="1400"/>
              <a:buChar char="■"/>
            </a:pPr>
            <a:r>
              <a:rPr lang="en">
                <a:solidFill>
                  <a:schemeClr val="dk1"/>
                </a:solidFill>
              </a:rPr>
              <a:t>g</a:t>
            </a:r>
            <a:r>
              <a:rPr lang="en">
                <a:solidFill>
                  <a:schemeClr val="dk1"/>
                </a:solidFill>
              </a:rPr>
              <a:t>it clone </a:t>
            </a:r>
            <a:r>
              <a:rPr lang="en" u="sng">
                <a:solidFill>
                  <a:schemeClr val="dk1"/>
                </a:solidFill>
                <a:hlinkClick r:id="rId3">
                  <a:extLst>
                    <a:ext uri="{A12FA001-AC4F-418D-AE19-62706E023703}">
                      <ahyp:hlinkClr val="tx"/>
                    </a:ext>
                  </a:extLst>
                </a:hlinkClick>
              </a:rPr>
              <a:t>https://github.com/nshin09/Expense-Tracker-Application.git</a:t>
            </a:r>
            <a:endParaRPr>
              <a:solidFill>
                <a:schemeClr val="dk1"/>
              </a:solidFill>
            </a:endParaRPr>
          </a:p>
          <a:p>
            <a:pPr indent="-317500" lvl="2" marL="1371600" rtl="0" algn="l">
              <a:spcBef>
                <a:spcPts val="0"/>
              </a:spcBef>
              <a:spcAft>
                <a:spcPts val="0"/>
              </a:spcAft>
              <a:buClr>
                <a:schemeClr val="dk1"/>
              </a:buClr>
              <a:buSzPts val="1400"/>
              <a:buChar char="■"/>
            </a:pPr>
            <a:r>
              <a:rPr lang="en">
                <a:solidFill>
                  <a:schemeClr val="dk1"/>
                </a:solidFill>
              </a:rPr>
              <a:t>c</a:t>
            </a:r>
            <a:r>
              <a:rPr lang="en">
                <a:solidFill>
                  <a:schemeClr val="dk1"/>
                </a:solidFill>
              </a:rPr>
              <a:t>d Expense-Tracker-Application</a:t>
            </a:r>
            <a:endParaRPr>
              <a:solidFill>
                <a:schemeClr val="dk1"/>
              </a:solidFill>
            </a:endParaRPr>
          </a:p>
          <a:p>
            <a:pPr indent="-317500" lvl="2" marL="1371600" rtl="0" algn="l">
              <a:spcBef>
                <a:spcPts val="0"/>
              </a:spcBef>
              <a:spcAft>
                <a:spcPts val="0"/>
              </a:spcAft>
              <a:buClr>
                <a:schemeClr val="dk1"/>
              </a:buClr>
              <a:buSzPts val="1400"/>
              <a:buChar char="■"/>
            </a:pPr>
            <a:r>
              <a:rPr lang="en">
                <a:solidFill>
                  <a:schemeClr val="dk1"/>
                </a:solidFill>
              </a:rPr>
              <a:t>p</a:t>
            </a:r>
            <a:r>
              <a:rPr lang="en">
                <a:solidFill>
                  <a:schemeClr val="dk1"/>
                </a:solidFill>
              </a:rPr>
              <a:t>ip install -r requirements.txt </a:t>
            </a:r>
            <a:endParaRPr>
              <a:solidFill>
                <a:schemeClr val="dk1"/>
              </a:solidFill>
            </a:endParaRPr>
          </a:p>
          <a:p>
            <a:pPr indent="-317500" lvl="2" marL="1371600" rtl="0" algn="l">
              <a:spcBef>
                <a:spcPts val="0"/>
              </a:spcBef>
              <a:spcAft>
                <a:spcPts val="0"/>
              </a:spcAft>
              <a:buClr>
                <a:schemeClr val="dk1"/>
              </a:buClr>
              <a:buSzPts val="1400"/>
              <a:buChar char="■"/>
            </a:pPr>
            <a:r>
              <a:rPr lang="en">
                <a:solidFill>
                  <a:schemeClr val="dk1"/>
                </a:solidFill>
              </a:rPr>
              <a:t>f</a:t>
            </a:r>
            <a:r>
              <a:rPr lang="en">
                <a:solidFill>
                  <a:schemeClr val="dk1"/>
                </a:solidFill>
              </a:rPr>
              <a:t>lask run</a:t>
            </a:r>
            <a:endParaRPr>
              <a:solidFill>
                <a:schemeClr val="dk1"/>
              </a:solidFill>
            </a:endParaRPr>
          </a:p>
          <a:p>
            <a:pPr indent="-317500" lvl="1" marL="914400" rtl="0" algn="l">
              <a:spcBef>
                <a:spcPts val="0"/>
              </a:spcBef>
              <a:spcAft>
                <a:spcPts val="0"/>
              </a:spcAft>
              <a:buClr>
                <a:schemeClr val="dk1"/>
              </a:buClr>
              <a:buSzPts val="1400"/>
              <a:buChar char="○"/>
            </a:pPr>
            <a:r>
              <a:rPr lang="en">
                <a:solidFill>
                  <a:schemeClr val="dk1"/>
                </a:solidFill>
              </a:rPr>
              <a:t>On the web browser of your </a:t>
            </a:r>
            <a:r>
              <a:rPr lang="en">
                <a:solidFill>
                  <a:schemeClr val="dk1"/>
                </a:solidFill>
              </a:rPr>
              <a:t>choice</a:t>
            </a:r>
            <a:r>
              <a:rPr lang="en">
                <a:solidFill>
                  <a:schemeClr val="dk1"/>
                </a:solidFill>
              </a:rPr>
              <a:t>, </a:t>
            </a:r>
            <a:r>
              <a:rPr lang="en">
                <a:solidFill>
                  <a:schemeClr val="dk1"/>
                </a:solidFill>
              </a:rPr>
              <a:t>search</a:t>
            </a:r>
            <a:r>
              <a:rPr lang="en">
                <a:solidFill>
                  <a:schemeClr val="dk1"/>
                </a:solidFill>
              </a:rPr>
              <a:t> the following</a:t>
            </a:r>
            <a:endParaRPr>
              <a:solidFill>
                <a:schemeClr val="dk1"/>
              </a:solidFill>
            </a:endParaRPr>
          </a:p>
          <a:p>
            <a:pPr indent="-317500" lvl="2" marL="1371600" rtl="0" algn="l">
              <a:spcBef>
                <a:spcPts val="0"/>
              </a:spcBef>
              <a:spcAft>
                <a:spcPts val="0"/>
              </a:spcAft>
              <a:buClr>
                <a:schemeClr val="dk1"/>
              </a:buClr>
              <a:buSzPts val="1400"/>
              <a:buChar char="■"/>
            </a:pPr>
            <a:r>
              <a:rPr lang="en">
                <a:solidFill>
                  <a:schemeClr val="dk1"/>
                </a:solidFill>
              </a:rPr>
              <a:t>localhost:5000</a:t>
            </a:r>
            <a:endParaRPr>
              <a:solidFill>
                <a:schemeClr val="dk1"/>
              </a:solidFill>
            </a:endParaRPr>
          </a:p>
          <a:p>
            <a:pPr indent="-317500" lvl="1" marL="914400" rtl="0" algn="l">
              <a:spcBef>
                <a:spcPts val="0"/>
              </a:spcBef>
              <a:spcAft>
                <a:spcPts val="0"/>
              </a:spcAft>
              <a:buClr>
                <a:schemeClr val="dk1"/>
              </a:buClr>
              <a:buSzPts val="1400"/>
              <a:buChar char="○"/>
            </a:pPr>
            <a:r>
              <a:rPr lang="en">
                <a:solidFill>
                  <a:schemeClr val="dk1"/>
                </a:solidFill>
              </a:rPr>
              <a:t>The app should now be successfully running!</a:t>
            </a:r>
            <a:endParaRPr>
              <a:solidFill>
                <a:schemeClr val="dk1"/>
              </a:solidFill>
            </a:endParaRPr>
          </a:p>
          <a:p>
            <a:pPr indent="-317500" lvl="2" marL="1371600" rtl="0" algn="l">
              <a:spcBef>
                <a:spcPts val="0"/>
              </a:spcBef>
              <a:spcAft>
                <a:spcPts val="0"/>
              </a:spcAft>
              <a:buClr>
                <a:schemeClr val="dk1"/>
              </a:buClr>
              <a:buSzPts val="1400"/>
              <a:buChar char="■"/>
            </a:pPr>
            <a:r>
              <a:rPr lang="en">
                <a:solidFill>
                  <a:schemeClr val="dk1"/>
                </a:solidFill>
              </a:rPr>
              <a:t>On subsequent runs, it is only necessary to open git bash in the directory of the app and run the </a:t>
            </a:r>
            <a:r>
              <a:rPr lang="en">
                <a:solidFill>
                  <a:schemeClr val="dk1"/>
                </a:solidFill>
              </a:rPr>
              <a:t>command</a:t>
            </a:r>
            <a:r>
              <a:rPr lang="en">
                <a:solidFill>
                  <a:schemeClr val="dk1"/>
                </a:solidFill>
              </a:rPr>
              <a:t> “flask run”. </a:t>
            </a:r>
            <a:endParaRPr>
              <a:solidFill>
                <a:schemeClr val="dk1"/>
              </a:solidFill>
            </a:endParaRPr>
          </a:p>
        </p:txBody>
      </p:sp>
      <p:pic>
        <p:nvPicPr>
          <p:cNvPr id="111" name="Google Shape;111;p20"/>
          <p:cNvPicPr preferRelativeResize="0"/>
          <p:nvPr/>
        </p:nvPicPr>
        <p:blipFill>
          <a:blip r:embed="rId4">
            <a:alphaModFix/>
          </a:blip>
          <a:stretch>
            <a:fillRect/>
          </a:stretch>
        </p:blipFill>
        <p:spPr>
          <a:xfrm>
            <a:off x="7056900" y="345975"/>
            <a:ext cx="1988625" cy="1988625"/>
          </a:xfrm>
          <a:prstGeom prst="rect">
            <a:avLst/>
          </a:prstGeom>
          <a:noFill/>
          <a:ln>
            <a:noFill/>
          </a:ln>
        </p:spPr>
      </p:pic>
      <p:pic>
        <p:nvPicPr>
          <p:cNvPr id="112" name="Google Shape;112;p20"/>
          <p:cNvPicPr preferRelativeResize="0"/>
          <p:nvPr/>
        </p:nvPicPr>
        <p:blipFill>
          <a:blip r:embed="rId5">
            <a:alphaModFix/>
          </a:blip>
          <a:stretch>
            <a:fillRect/>
          </a:stretch>
        </p:blipFill>
        <p:spPr>
          <a:xfrm>
            <a:off x="7056900" y="2516550"/>
            <a:ext cx="1988625" cy="1988625"/>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accent1"/>
        </a:solidFill>
      </p:bgPr>
    </p:bg>
    <p:spTree>
      <p:nvGrpSpPr>
        <p:cNvPr id="116" name="Shape 116"/>
        <p:cNvGrpSpPr/>
        <p:nvPr/>
      </p:nvGrpSpPr>
      <p:grpSpPr>
        <a:xfrm>
          <a:off x="0" y="0"/>
          <a:ext cx="0" cy="0"/>
          <a:chOff x="0" y="0"/>
          <a:chExt cx="0" cy="0"/>
        </a:xfrm>
      </p:grpSpPr>
      <p:sp>
        <p:nvSpPr>
          <p:cNvPr id="117" name="Google Shape;117;p21"/>
          <p:cNvSpPr txBox="1"/>
          <p:nvPr>
            <p:ph type="title"/>
          </p:nvPr>
        </p:nvSpPr>
        <p:spPr>
          <a:xfrm>
            <a:off x="36950" y="31200"/>
            <a:ext cx="9001200" cy="6132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Testing / Verification</a:t>
            </a:r>
            <a:endParaRPr sz="2800"/>
          </a:p>
        </p:txBody>
      </p:sp>
      <p:sp>
        <p:nvSpPr>
          <p:cNvPr id="118" name="Google Shape;118;p21"/>
          <p:cNvSpPr txBox="1"/>
          <p:nvPr/>
        </p:nvSpPr>
        <p:spPr>
          <a:xfrm>
            <a:off x="0" y="526150"/>
            <a:ext cx="6104100" cy="4218300"/>
          </a:xfrm>
          <a:prstGeom prst="rect">
            <a:avLst/>
          </a:prstGeom>
          <a:noFill/>
          <a:ln>
            <a:noFill/>
          </a:ln>
        </p:spPr>
        <p:txBody>
          <a:bodyPr anchorCtr="0" anchor="t" bIns="91425" lIns="91425" spcFirstLastPara="1" rIns="91425" wrap="square" tIns="91425">
            <a:noAutofit/>
          </a:bodyPr>
          <a:lstStyle/>
          <a:p>
            <a:pPr indent="-304800" lvl="0" marL="457200" rtl="0" algn="l">
              <a:spcBef>
                <a:spcPts val="0"/>
              </a:spcBef>
              <a:spcAft>
                <a:spcPts val="0"/>
              </a:spcAft>
              <a:buClr>
                <a:schemeClr val="dk1"/>
              </a:buClr>
              <a:buSzPts val="1200"/>
              <a:buChar char="●"/>
            </a:pPr>
            <a:r>
              <a:rPr lang="en" sz="1200">
                <a:solidFill>
                  <a:schemeClr val="dk1"/>
                </a:solidFill>
              </a:rPr>
              <a:t>Total Expense</a:t>
            </a:r>
            <a:endParaRPr sz="1200">
              <a:solidFill>
                <a:schemeClr val="dk1"/>
              </a:solidFill>
            </a:endParaRPr>
          </a:p>
          <a:p>
            <a:pPr indent="-304800" lvl="1" marL="914400" rtl="0" algn="l">
              <a:spcBef>
                <a:spcPts val="0"/>
              </a:spcBef>
              <a:spcAft>
                <a:spcPts val="0"/>
              </a:spcAft>
              <a:buClr>
                <a:schemeClr val="dk1"/>
              </a:buClr>
              <a:buSzPts val="1200"/>
              <a:buChar char="○"/>
            </a:pPr>
            <a:r>
              <a:rPr lang="en" sz="1200">
                <a:solidFill>
                  <a:schemeClr val="dk1"/>
                </a:solidFill>
              </a:rPr>
              <a:t>At the start of the app there should be a value next where it says “Grand Total”. It should be equal to all the expenses added up in the table in the middle (without filter options). Only adding and deleting expenses should affect this value. </a:t>
            </a:r>
            <a:endParaRPr sz="1200">
              <a:solidFill>
                <a:schemeClr val="dk1"/>
              </a:solidFill>
            </a:endParaRPr>
          </a:p>
          <a:p>
            <a:pPr indent="-304800" lvl="0" marL="457200" rtl="0" algn="l">
              <a:spcBef>
                <a:spcPts val="0"/>
              </a:spcBef>
              <a:spcAft>
                <a:spcPts val="0"/>
              </a:spcAft>
              <a:buClr>
                <a:schemeClr val="dk1"/>
              </a:buClr>
              <a:buSzPts val="1200"/>
              <a:buChar char="●"/>
            </a:pPr>
            <a:r>
              <a:rPr lang="en" sz="1200">
                <a:solidFill>
                  <a:schemeClr val="dk1"/>
                </a:solidFill>
              </a:rPr>
              <a:t>Total Expense by Category </a:t>
            </a:r>
            <a:endParaRPr sz="1200">
              <a:solidFill>
                <a:schemeClr val="dk1"/>
              </a:solidFill>
            </a:endParaRPr>
          </a:p>
          <a:p>
            <a:pPr indent="-304800" lvl="1" marL="914400" rtl="0" algn="l">
              <a:spcBef>
                <a:spcPts val="0"/>
              </a:spcBef>
              <a:spcAft>
                <a:spcPts val="0"/>
              </a:spcAft>
              <a:buClr>
                <a:schemeClr val="dk1"/>
              </a:buClr>
              <a:buSzPts val="1200"/>
              <a:buChar char="○"/>
            </a:pPr>
            <a:r>
              <a:rPr lang="en" sz="1200">
                <a:solidFill>
                  <a:schemeClr val="dk1"/>
                </a:solidFill>
              </a:rPr>
              <a:t>To the right of the page, there is a “Filter by:” option. When the categories are selected and the “Apply Filter” button is clicked, the table rows, total, and bar graph should change to data reflecting only the categories that were selected. </a:t>
            </a:r>
            <a:endParaRPr sz="1200">
              <a:solidFill>
                <a:schemeClr val="dk1"/>
              </a:solidFill>
            </a:endParaRPr>
          </a:p>
          <a:p>
            <a:pPr indent="-304800" lvl="1" marL="914400" rtl="0" algn="l">
              <a:spcBef>
                <a:spcPts val="0"/>
              </a:spcBef>
              <a:spcAft>
                <a:spcPts val="0"/>
              </a:spcAft>
              <a:buClr>
                <a:schemeClr val="dk1"/>
              </a:buClr>
              <a:buSzPts val="1200"/>
              <a:buChar char="○"/>
            </a:pPr>
            <a:r>
              <a:rPr lang="en" sz="1200">
                <a:solidFill>
                  <a:schemeClr val="dk1"/>
                </a:solidFill>
              </a:rPr>
              <a:t>Total reflects the total money spent of selected categories.</a:t>
            </a:r>
            <a:endParaRPr sz="1200">
              <a:solidFill>
                <a:schemeClr val="dk1"/>
              </a:solidFill>
            </a:endParaRPr>
          </a:p>
          <a:p>
            <a:pPr indent="-304800" lvl="0" marL="457200" rtl="0" algn="l">
              <a:spcBef>
                <a:spcPts val="0"/>
              </a:spcBef>
              <a:spcAft>
                <a:spcPts val="0"/>
              </a:spcAft>
              <a:buClr>
                <a:schemeClr val="dk1"/>
              </a:buClr>
              <a:buSzPts val="1200"/>
              <a:buChar char="●"/>
            </a:pPr>
            <a:r>
              <a:rPr lang="en" sz="1200">
                <a:solidFill>
                  <a:schemeClr val="dk1"/>
                </a:solidFill>
              </a:rPr>
              <a:t>Expense Trend</a:t>
            </a:r>
            <a:endParaRPr sz="1200">
              <a:solidFill>
                <a:schemeClr val="dk1"/>
              </a:solidFill>
            </a:endParaRPr>
          </a:p>
          <a:p>
            <a:pPr indent="-304800" lvl="1" marL="914400" rtl="0" algn="l">
              <a:spcBef>
                <a:spcPts val="0"/>
              </a:spcBef>
              <a:spcAft>
                <a:spcPts val="0"/>
              </a:spcAft>
              <a:buClr>
                <a:schemeClr val="dk1"/>
              </a:buClr>
              <a:buSzPts val="1200"/>
              <a:buChar char="○"/>
            </a:pPr>
            <a:r>
              <a:rPr lang="en" sz="1200">
                <a:solidFill>
                  <a:schemeClr val="dk1"/>
                </a:solidFill>
              </a:rPr>
              <a:t>The bar graph shows spendings of the selected </a:t>
            </a:r>
            <a:r>
              <a:rPr lang="en" sz="1200">
                <a:solidFill>
                  <a:schemeClr val="dk1"/>
                </a:solidFill>
              </a:rPr>
              <a:t>categories</a:t>
            </a:r>
            <a:r>
              <a:rPr lang="en" sz="1200">
                <a:solidFill>
                  <a:schemeClr val="dk1"/>
                </a:solidFill>
              </a:rPr>
              <a:t> spanning from the 1 year ago to the present. To </a:t>
            </a:r>
            <a:r>
              <a:rPr lang="en" sz="1200">
                <a:solidFill>
                  <a:schemeClr val="dk1"/>
                </a:solidFill>
              </a:rPr>
              <a:t>verify</a:t>
            </a:r>
            <a:r>
              <a:rPr lang="en" sz="1200">
                <a:solidFill>
                  <a:schemeClr val="dk1"/>
                </a:solidFill>
              </a:rPr>
              <a:t> its functionality, add all the category totals for each month and see if it corresponds correctly with the bar graph.</a:t>
            </a:r>
            <a:endParaRPr sz="1200">
              <a:solidFill>
                <a:schemeClr val="dk1"/>
              </a:solidFill>
            </a:endParaRPr>
          </a:p>
          <a:p>
            <a:pPr indent="-304800" lvl="0" marL="457200" rtl="0" algn="l">
              <a:spcBef>
                <a:spcPts val="0"/>
              </a:spcBef>
              <a:spcAft>
                <a:spcPts val="0"/>
              </a:spcAft>
              <a:buClr>
                <a:schemeClr val="dk1"/>
              </a:buClr>
              <a:buSzPts val="1200"/>
              <a:buChar char="●"/>
            </a:pPr>
            <a:r>
              <a:rPr lang="en" sz="1200">
                <a:solidFill>
                  <a:schemeClr val="dk1"/>
                </a:solidFill>
              </a:rPr>
              <a:t>Highest and Lowest Spend Category</a:t>
            </a:r>
            <a:endParaRPr sz="1200">
              <a:solidFill>
                <a:schemeClr val="dk1"/>
              </a:solidFill>
            </a:endParaRPr>
          </a:p>
          <a:p>
            <a:pPr indent="-304800" lvl="1" marL="914400" rtl="0" algn="l">
              <a:spcBef>
                <a:spcPts val="0"/>
              </a:spcBef>
              <a:spcAft>
                <a:spcPts val="0"/>
              </a:spcAft>
              <a:buClr>
                <a:schemeClr val="dk1"/>
              </a:buClr>
              <a:buSzPts val="1200"/>
              <a:buChar char="○"/>
            </a:pPr>
            <a:r>
              <a:rPr lang="en" sz="1200">
                <a:solidFill>
                  <a:schemeClr val="dk1"/>
                </a:solidFill>
              </a:rPr>
              <a:t>To verify this function, filter by all categories and manually add up all the expenses from each category and calculate the highest and lowest spending. In the case of a tie, a category wins by priority in the following order (Most to least) : Food, Bills, Transport, Investment, Other.  </a:t>
            </a:r>
            <a:endParaRPr sz="1200">
              <a:solidFill>
                <a:schemeClr val="dk1"/>
              </a:solidFill>
            </a:endParaRPr>
          </a:p>
          <a:p>
            <a:pPr indent="0" lvl="0" marL="457200" rtl="0" algn="l">
              <a:spcBef>
                <a:spcPts val="0"/>
              </a:spcBef>
              <a:spcAft>
                <a:spcPts val="0"/>
              </a:spcAft>
              <a:buNone/>
            </a:pPr>
            <a:r>
              <a:t/>
            </a:r>
            <a:endParaRPr>
              <a:solidFill>
                <a:schemeClr val="dk2"/>
              </a:solidFill>
            </a:endParaRPr>
          </a:p>
        </p:txBody>
      </p:sp>
      <p:pic>
        <p:nvPicPr>
          <p:cNvPr id="119" name="Google Shape;119;p21"/>
          <p:cNvPicPr preferRelativeResize="0"/>
          <p:nvPr/>
        </p:nvPicPr>
        <p:blipFill>
          <a:blip r:embed="rId3">
            <a:alphaModFix/>
          </a:blip>
          <a:stretch>
            <a:fillRect/>
          </a:stretch>
        </p:blipFill>
        <p:spPr>
          <a:xfrm>
            <a:off x="6713150" y="585275"/>
            <a:ext cx="2371725" cy="1704975"/>
          </a:xfrm>
          <a:prstGeom prst="rect">
            <a:avLst/>
          </a:prstGeom>
          <a:noFill/>
          <a:ln>
            <a:noFill/>
          </a:ln>
        </p:spPr>
      </p:pic>
      <p:pic>
        <p:nvPicPr>
          <p:cNvPr id="120" name="Google Shape;120;p21"/>
          <p:cNvPicPr preferRelativeResize="0"/>
          <p:nvPr/>
        </p:nvPicPr>
        <p:blipFill>
          <a:blip r:embed="rId4">
            <a:alphaModFix/>
          </a:blip>
          <a:stretch>
            <a:fillRect/>
          </a:stretch>
        </p:blipFill>
        <p:spPr>
          <a:xfrm>
            <a:off x="6408900" y="2290250"/>
            <a:ext cx="2735100" cy="2282117"/>
          </a:xfrm>
          <a:prstGeom prst="rect">
            <a:avLst/>
          </a:prstGeom>
          <a:noFill/>
          <a:ln>
            <a:noFill/>
          </a:ln>
        </p:spPr>
      </p:pic>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accent1"/>
        </a:solidFill>
      </p:bgPr>
    </p:bg>
    <p:spTree>
      <p:nvGrpSpPr>
        <p:cNvPr id="124" name="Shape 124"/>
        <p:cNvGrpSpPr/>
        <p:nvPr/>
      </p:nvGrpSpPr>
      <p:grpSpPr>
        <a:xfrm>
          <a:off x="0" y="0"/>
          <a:ext cx="0" cy="0"/>
          <a:chOff x="0" y="0"/>
          <a:chExt cx="0" cy="0"/>
        </a:xfrm>
      </p:grpSpPr>
      <p:sp>
        <p:nvSpPr>
          <p:cNvPr id="125" name="Google Shape;125;p22"/>
          <p:cNvSpPr txBox="1"/>
          <p:nvPr>
            <p:ph type="title"/>
          </p:nvPr>
        </p:nvSpPr>
        <p:spPr>
          <a:xfrm>
            <a:off x="311700" y="156800"/>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Future Design Improvements</a:t>
            </a:r>
            <a:endParaRPr/>
          </a:p>
        </p:txBody>
      </p:sp>
      <p:sp>
        <p:nvSpPr>
          <p:cNvPr id="126" name="Google Shape;126;p22"/>
          <p:cNvSpPr txBox="1"/>
          <p:nvPr>
            <p:ph idx="1" type="body"/>
          </p:nvPr>
        </p:nvSpPr>
        <p:spPr>
          <a:xfrm>
            <a:off x="149125" y="694300"/>
            <a:ext cx="4927800" cy="43014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Clr>
                <a:schemeClr val="dk1"/>
              </a:buClr>
              <a:buSzPts val="1800"/>
              <a:buChar char="●"/>
            </a:pPr>
            <a:r>
              <a:rPr lang="en">
                <a:solidFill>
                  <a:schemeClr val="dk1"/>
                </a:solidFill>
              </a:rPr>
              <a:t>Scalability </a:t>
            </a:r>
            <a:endParaRPr>
              <a:solidFill>
                <a:schemeClr val="dk1"/>
              </a:solidFill>
            </a:endParaRPr>
          </a:p>
          <a:p>
            <a:pPr indent="-317500" lvl="1" marL="914400" rtl="0" algn="l">
              <a:spcBef>
                <a:spcPts val="0"/>
              </a:spcBef>
              <a:spcAft>
                <a:spcPts val="0"/>
              </a:spcAft>
              <a:buClr>
                <a:schemeClr val="dk1"/>
              </a:buClr>
              <a:buSzPts val="1400"/>
              <a:buChar char="○"/>
            </a:pPr>
            <a:r>
              <a:rPr lang="en">
                <a:solidFill>
                  <a:schemeClr val="dk1"/>
                </a:solidFill>
              </a:rPr>
              <a:t>Change tech stack to Spring Boot + React.js + Amazon RDS</a:t>
            </a:r>
            <a:endParaRPr>
              <a:solidFill>
                <a:schemeClr val="dk1"/>
              </a:solidFill>
            </a:endParaRPr>
          </a:p>
          <a:p>
            <a:pPr indent="-317500" lvl="2" marL="1371600" rtl="0" algn="l">
              <a:spcBef>
                <a:spcPts val="0"/>
              </a:spcBef>
              <a:spcAft>
                <a:spcPts val="0"/>
              </a:spcAft>
              <a:buClr>
                <a:schemeClr val="dk1"/>
              </a:buClr>
              <a:buSzPts val="1400"/>
              <a:buChar char="■"/>
            </a:pPr>
            <a:r>
              <a:rPr lang="en">
                <a:solidFill>
                  <a:schemeClr val="dk1"/>
                </a:solidFill>
              </a:rPr>
              <a:t>Allows for good performance if many users were to use the app.</a:t>
            </a:r>
            <a:endParaRPr>
              <a:solidFill>
                <a:schemeClr val="dk1"/>
              </a:solidFill>
            </a:endParaRPr>
          </a:p>
          <a:p>
            <a:pPr indent="-342900" lvl="0" marL="457200" rtl="0" algn="l">
              <a:spcBef>
                <a:spcPts val="0"/>
              </a:spcBef>
              <a:spcAft>
                <a:spcPts val="0"/>
              </a:spcAft>
              <a:buClr>
                <a:schemeClr val="dk1"/>
              </a:buClr>
              <a:buSzPts val="1800"/>
              <a:buChar char="●"/>
            </a:pPr>
            <a:r>
              <a:rPr lang="en">
                <a:solidFill>
                  <a:schemeClr val="dk1"/>
                </a:solidFill>
              </a:rPr>
              <a:t>Addition of an “edit” button</a:t>
            </a:r>
            <a:endParaRPr>
              <a:solidFill>
                <a:schemeClr val="dk1"/>
              </a:solidFill>
            </a:endParaRPr>
          </a:p>
          <a:p>
            <a:pPr indent="-317500" lvl="1" marL="914400" rtl="0" algn="l">
              <a:spcBef>
                <a:spcPts val="0"/>
              </a:spcBef>
              <a:spcAft>
                <a:spcPts val="0"/>
              </a:spcAft>
              <a:buClr>
                <a:schemeClr val="dk1"/>
              </a:buClr>
              <a:buSzPts val="1400"/>
              <a:buChar char="○"/>
            </a:pPr>
            <a:r>
              <a:rPr lang="en">
                <a:solidFill>
                  <a:schemeClr val="dk1"/>
                </a:solidFill>
              </a:rPr>
              <a:t>Current design is configured where in order to change an expense attribute, the expense must be deleted and a new one must be created.</a:t>
            </a:r>
            <a:endParaRPr>
              <a:solidFill>
                <a:schemeClr val="dk1"/>
              </a:solidFill>
            </a:endParaRPr>
          </a:p>
          <a:p>
            <a:pPr indent="-342900" lvl="0" marL="457200" rtl="0" algn="l">
              <a:spcBef>
                <a:spcPts val="0"/>
              </a:spcBef>
              <a:spcAft>
                <a:spcPts val="0"/>
              </a:spcAft>
              <a:buClr>
                <a:schemeClr val="dk1"/>
              </a:buClr>
              <a:buSzPts val="1800"/>
              <a:buChar char="●"/>
            </a:pPr>
            <a:r>
              <a:rPr lang="en">
                <a:solidFill>
                  <a:schemeClr val="dk1"/>
                </a:solidFill>
              </a:rPr>
              <a:t>New table to store account data</a:t>
            </a:r>
            <a:endParaRPr>
              <a:solidFill>
                <a:schemeClr val="dk1"/>
              </a:solidFill>
            </a:endParaRPr>
          </a:p>
          <a:p>
            <a:pPr indent="-317500" lvl="1" marL="914400" rtl="0" algn="l">
              <a:spcBef>
                <a:spcPts val="0"/>
              </a:spcBef>
              <a:spcAft>
                <a:spcPts val="0"/>
              </a:spcAft>
              <a:buClr>
                <a:schemeClr val="dk1"/>
              </a:buClr>
              <a:buSzPts val="1400"/>
              <a:buChar char="○"/>
            </a:pPr>
            <a:r>
              <a:rPr lang="en">
                <a:solidFill>
                  <a:schemeClr val="dk1"/>
                </a:solidFill>
              </a:rPr>
              <a:t>Create another table in DB for storing user account information, where each user has their own personalized expense tracker information. </a:t>
            </a:r>
            <a:endParaRPr>
              <a:solidFill>
                <a:schemeClr val="dk1"/>
              </a:solidFill>
            </a:endParaRPr>
          </a:p>
        </p:txBody>
      </p:sp>
      <p:pic>
        <p:nvPicPr>
          <p:cNvPr id="127" name="Google Shape;127;p22"/>
          <p:cNvPicPr preferRelativeResize="0"/>
          <p:nvPr/>
        </p:nvPicPr>
        <p:blipFill>
          <a:blip r:embed="rId3">
            <a:alphaModFix/>
          </a:blip>
          <a:stretch>
            <a:fillRect/>
          </a:stretch>
        </p:blipFill>
        <p:spPr>
          <a:xfrm>
            <a:off x="7192525" y="3192025"/>
            <a:ext cx="1951475" cy="1951475"/>
          </a:xfrm>
          <a:prstGeom prst="rect">
            <a:avLst/>
          </a:prstGeom>
          <a:noFill/>
          <a:ln>
            <a:noFill/>
          </a:ln>
        </p:spPr>
      </p:pic>
      <p:pic>
        <p:nvPicPr>
          <p:cNvPr id="128" name="Google Shape;128;p22"/>
          <p:cNvPicPr preferRelativeResize="0"/>
          <p:nvPr/>
        </p:nvPicPr>
        <p:blipFill>
          <a:blip r:embed="rId4">
            <a:alphaModFix/>
          </a:blip>
          <a:stretch>
            <a:fillRect/>
          </a:stretch>
        </p:blipFill>
        <p:spPr>
          <a:xfrm>
            <a:off x="6436775" y="0"/>
            <a:ext cx="2707225" cy="1516050"/>
          </a:xfrm>
          <a:prstGeom prst="rect">
            <a:avLst/>
          </a:prstGeom>
          <a:noFill/>
          <a:ln>
            <a:noFill/>
          </a:ln>
        </p:spPr>
      </p:pic>
      <p:pic>
        <p:nvPicPr>
          <p:cNvPr id="129" name="Google Shape;129;p22"/>
          <p:cNvPicPr preferRelativeResize="0"/>
          <p:nvPr/>
        </p:nvPicPr>
        <p:blipFill>
          <a:blip r:embed="rId5">
            <a:alphaModFix/>
          </a:blip>
          <a:stretch>
            <a:fillRect/>
          </a:stretch>
        </p:blipFill>
        <p:spPr>
          <a:xfrm>
            <a:off x="7192523" y="1516050"/>
            <a:ext cx="1951475" cy="1777075"/>
          </a:xfrm>
          <a:prstGeom prst="rect">
            <a:avLst/>
          </a:prstGeom>
          <a:noFill/>
          <a:ln>
            <a:noFill/>
          </a:ln>
        </p:spPr>
      </p:pic>
    </p:spTree>
  </p:cSld>
  <p:clrMapOvr>
    <a:masterClrMapping/>
  </p:clrMapOvr>
</p:sld>
</file>

<file path=ppt/theme/theme1.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